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notesSlides/notesSlide4.xml" ContentType="application/vnd.openxmlformats-officedocument.presentationml.notesSlide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notesSlides/notesSlide8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9.xml" ContentType="application/vnd.openxmlformats-officedocument.presentationml.notesSlide+xml"/>
  <Override PartName="/ppt/tags/tag23.xml" ContentType="application/vnd.openxmlformats-officedocument.presentationml.tags+xml"/>
  <Override PartName="/ppt/notesSlides/notesSlide10.xml" ContentType="application/vnd.openxmlformats-officedocument.presentationml.notesSlide+xml"/>
  <Override PartName="/ppt/tags/tag24.xml" ContentType="application/vnd.openxmlformats-officedocument.presentationml.tags+xml"/>
  <Override PartName="/ppt/notesSlides/notesSlide11.xml" ContentType="application/vnd.openxmlformats-officedocument.presentationml.notesSlide+xml"/>
  <Override PartName="/ppt/tags/tag25.xml" ContentType="application/vnd.openxmlformats-officedocument.presentationml.tags+xml"/>
  <Override PartName="/ppt/notesSlides/notesSlide12.xml" ContentType="application/vnd.openxmlformats-officedocument.presentationml.notesSlide+xml"/>
  <Override PartName="/ppt/tags/tag26.xml" ContentType="application/vnd.openxmlformats-officedocument.presentationml.tags+xml"/>
  <Override PartName="/ppt/notesSlides/notesSlide13.xml" ContentType="application/vnd.openxmlformats-officedocument.presentationml.notesSlide+xml"/>
  <Override PartName="/ppt/tags/tag27.xml" ContentType="application/vnd.openxmlformats-officedocument.presentationml.tags+xml"/>
  <Override PartName="/ppt/notesSlides/notesSlide14.xml" ContentType="application/vnd.openxmlformats-officedocument.presentationml.notesSlide+xml"/>
  <Override PartName="/ppt/tags/tag28.xml" ContentType="application/vnd.openxmlformats-officedocument.presentationml.tags+xml"/>
  <Override PartName="/ppt/notesSlides/notesSlide15.xml" ContentType="application/vnd.openxmlformats-officedocument.presentationml.notesSlide+xml"/>
  <Override PartName="/ppt/tags/tag29.xml" ContentType="application/vnd.openxmlformats-officedocument.presentationml.tags+xml"/>
  <Override PartName="/ppt/notesSlides/notesSlide16.xml" ContentType="application/vnd.openxmlformats-officedocument.presentationml.notesSlide+xml"/>
  <Override PartName="/ppt/tags/tag30.xml" ContentType="application/vnd.openxmlformats-officedocument.presentationml.tags+xml"/>
  <Override PartName="/ppt/notesSlides/notesSlide17.xml" ContentType="application/vnd.openxmlformats-officedocument.presentationml.notesSlide+xml"/>
  <Override PartName="/ppt/tags/tag31.xml" ContentType="application/vnd.openxmlformats-officedocument.presentationml.tags+xml"/>
  <Override PartName="/ppt/notesSlides/notesSlide18.xml" ContentType="application/vnd.openxmlformats-officedocument.presentationml.notesSlide+xml"/>
  <Override PartName="/ppt/tags/tag32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2"/>
  </p:notesMasterIdLst>
  <p:sldIdLst>
    <p:sldId id="257" r:id="rId2"/>
    <p:sldId id="273" r:id="rId3"/>
    <p:sldId id="279" r:id="rId4"/>
    <p:sldId id="290" r:id="rId5"/>
    <p:sldId id="274" r:id="rId6"/>
    <p:sldId id="278" r:id="rId7"/>
    <p:sldId id="289" r:id="rId8"/>
    <p:sldId id="275" r:id="rId9"/>
    <p:sldId id="284" r:id="rId10"/>
    <p:sldId id="276" r:id="rId11"/>
    <p:sldId id="280" r:id="rId12"/>
    <p:sldId id="285" r:id="rId13"/>
    <p:sldId id="286" r:id="rId14"/>
    <p:sldId id="294" r:id="rId15"/>
    <p:sldId id="281" r:id="rId16"/>
    <p:sldId id="282" r:id="rId17"/>
    <p:sldId id="291" r:id="rId18"/>
    <p:sldId id="292" r:id="rId19"/>
    <p:sldId id="267" r:id="rId20"/>
    <p:sldId id="28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345206D6-04E9-2444-8CED-BE6AE2874B54}">
          <p14:sldIdLst>
            <p14:sldId id="257"/>
          </p14:sldIdLst>
        </p14:section>
        <p14:section name="SMS" id="{30451F4F-6BA9-6D4B-A4BB-8DB640052645}">
          <p14:sldIdLst>
            <p14:sldId id="273"/>
            <p14:sldId id="279"/>
            <p14:sldId id="290"/>
          </p14:sldIdLst>
        </p14:section>
        <p14:section name="Voice" id="{62DC743B-B428-A846-A972-FE2649038426}">
          <p14:sldIdLst>
            <p14:sldId id="274"/>
            <p14:sldId id="278"/>
            <p14:sldId id="289"/>
          </p14:sldIdLst>
        </p14:section>
        <p14:section name="M2M / IoT" id="{D1173A9C-F5B8-034B-ACC0-A01A2F748F45}">
          <p14:sldIdLst>
            <p14:sldId id="275"/>
            <p14:sldId id="284"/>
          </p14:sldIdLst>
        </p14:section>
        <p14:section name="Перспективные продукты" id="{B07F2C6F-7D72-5346-8C3E-190D7BB4003B}">
          <p14:sldIdLst>
            <p14:sldId id="276"/>
            <p14:sldId id="280"/>
            <p14:sldId id="285"/>
            <p14:sldId id="286"/>
            <p14:sldId id="294"/>
          </p14:sldIdLst>
        </p14:section>
        <p14:section name="CORE" id="{59C4BE11-9B6B-834B-B3A6-4517F2968009}">
          <p14:sldIdLst>
            <p14:sldId id="281"/>
            <p14:sldId id="282"/>
            <p14:sldId id="291"/>
            <p14:sldId id="292"/>
          </p14:sldIdLst>
        </p14:section>
        <p14:section name="Продуктовый Маркетинг" id="{1CDCDE50-2F31-AB49-BF2F-C6B0A22C10C1}">
          <p14:sldIdLst>
            <p14:sldId id="267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943"/>
    <p:restoredTop sz="95000"/>
  </p:normalViewPr>
  <p:slideViewPr>
    <p:cSldViewPr snapToGrid="0">
      <p:cViewPr varScale="1">
        <p:scale>
          <a:sx n="142" d="100"/>
          <a:sy n="142" d="100"/>
        </p:scale>
        <p:origin x="315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9880D-3DF8-E041-B5AB-E7EEE8A2AAEC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810964-1A5A-ED40-AF6F-C63D88703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934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6833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CAA57-28C6-E9FA-AC0B-A941EEDCA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D06321F-BBA1-705D-7B17-D28215372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6AA796E-6A15-DA25-CCF7-1130C5848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	«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C389F4-CDAA-2A7E-B0E2-824B9037A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8776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8E76F-5351-7DF6-9665-0F9571EC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F674574-F81D-C54B-B16F-FF70D0DFE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9B34002-39BD-365C-9249-59342D49C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	«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594581-6B1B-1963-B954-FE667A148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95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0BE9D-F277-AAA9-E088-3202F2DBB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AC48E5E-33C2-87EC-26A4-1C3A1D036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1B08652-8D9F-BF5C-9F39-F9A84FCAD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	«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B30D7F-B64D-BC93-AF79-B4574E37A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2127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7126D-166E-867B-CD09-ED7051A9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480FD59-1B69-00E1-C4F1-84B5241AB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5E7C9FC-5024-3E23-DCD1-AE1506409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91606F-DBC5-D9D1-E04C-E489A9B67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9631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87374-1EBB-C8F1-9709-6D522956F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3DF741F-CE9E-A6B8-0835-A899E7237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69717A0-05AB-C98C-B2F5-9EEFFAAE7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81B82C-3D03-DEC6-C3E1-8208026BC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1092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FF416-068E-B15B-D566-81D462DFA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60CE641-0E23-2272-AC7C-26E02C079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485C79F-65BB-6780-0794-D77397C53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D0A095-6D68-6FB4-57D1-4A2433D17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4643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8712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02F58-BC0F-2F31-BFF3-194BB2499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D869E4E-9B93-BFA4-A928-DE5A6F1EA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94D6D7-E8E1-FF0F-B2B9-CEA5E908E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C5EDB8-A08A-FAF3-73F7-E782E745C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977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73252-9E16-85A2-3E4A-2AA08F505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050D5CC-0CFB-BBC9-EA06-D92889AF9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E409919-984C-71A6-9BE0-20950B49C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DEB81FB-3994-E74C-94BD-3623657B6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4185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4479-4086-2C77-142D-F7AF178B9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606DDCC-80B1-9B3D-A0C1-2BD9B2FFB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97DA192-55E3-5507-A53C-AC9704C92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4B7716-9845-9737-225E-A06E984CD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0142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EA9EB-94C1-3278-A081-52FACA7C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F28DDFE-D635-71C1-B5B4-C82EF76CC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4CFD2AD-5CFE-4544-DDA9-DDC74646C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2BEF5D-60E5-67B9-08B1-E97EC0CCF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1761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EDB76-55F7-AC62-24B9-1A8264D27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514FF6C-5EDD-D769-8734-87522EE0F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E2B3693-3B77-0B1F-4695-A3660E1D5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EE3527-A37D-0B8C-646C-28D6C9E9C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3814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E2878-8EFF-B726-4F5B-28052008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AF63D8-A66E-F0D9-4BE2-DB90BFA7F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FE7CEE3-B29C-B113-EA5C-C562B6F5F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068F08-BD3B-3CE5-1FD2-36BCD407E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74087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9AC17-4EF5-6DD2-822D-050BEEB66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5A938B-837A-BD8B-470B-E6DE4DE0F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172F7C8-29F9-7D1A-6F8C-E8F3B2B44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2C7C4D-1667-2BEA-B8CA-8F22CC7C1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63050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AAA07-ED20-47BD-6C7B-1CD10E8B3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89D6A27-1F54-9076-7098-DF1BDE9DE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3482952-CCB3-07A7-379E-0482FB8D7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BC0B43-C634-8C86-0F28-D1F566136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72781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D1E8B-DD37-B841-2C0F-65A26FC3C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7E286D9-0AE8-C4F0-6A49-E4AA945E5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4B00B8F-943E-93A4-B757-653AC0B9E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3C9475-FD09-6056-D260-AAE04397E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73838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err="1"/>
              <a:t>InHouse</a:t>
            </a:r>
            <a:r>
              <a:rPr lang="ru-RU"/>
              <a:t> дизайнера для </a:t>
            </a:r>
            <a:r>
              <a:rPr lang="en-US"/>
              <a:t>b2b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38044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86677-9AA5-4EDC-F546-3E3CD729B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52C0DFF-85D3-7949-E878-502B5782E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CDB07F3-1D5A-5163-BFCC-0C8017A0D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AC821E-588B-E4E9-8789-B503F81E7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10964-1A5A-ED40-AF6F-C63D88703643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481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6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7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8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9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0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25E57-C5CF-8F44-97B2-D399680458EA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5DD5-B0D4-A545-9463-C70297B070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17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BFC4EA1-1E76-82EC-80C4-0439ECAAC39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435574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4556BA5F-EB83-1000-121D-0AF6E3D106FC}"/>
              </a:ext>
            </a:extLst>
          </p:cNvPr>
          <p:cNvSpPr/>
          <p:nvPr userDrawn="1"/>
        </p:nvSpPr>
        <p:spPr>
          <a:xfrm>
            <a:off x="154004" y="136526"/>
            <a:ext cx="11877576" cy="6584950"/>
          </a:xfrm>
          <a:prstGeom prst="roundRect">
            <a:avLst>
              <a:gd name="adj" fmla="val 38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25E57-C5CF-8F44-97B2-D399680458EA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5DD5-B0D4-A545-9463-C70297B070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8948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BFC4EA1-1E76-82EC-80C4-0439ECAAC39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435574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BFC4EA1-1E76-82EC-80C4-0439ECAAC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4556BA5F-EB83-1000-121D-0AF6E3D106FC}"/>
              </a:ext>
            </a:extLst>
          </p:cNvPr>
          <p:cNvSpPr/>
          <p:nvPr userDrawn="1"/>
        </p:nvSpPr>
        <p:spPr>
          <a:xfrm>
            <a:off x="154004" y="136526"/>
            <a:ext cx="11877576" cy="6584950"/>
          </a:xfrm>
          <a:prstGeom prst="roundRect">
            <a:avLst>
              <a:gd name="adj" fmla="val 38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880" y="61151"/>
            <a:ext cx="10515600" cy="613283"/>
          </a:xfrm>
        </p:spPr>
        <p:txBody>
          <a:bodyPr vert="horz" rIns="91440"/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813" y="914400"/>
            <a:ext cx="11072939" cy="52625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25E57-C5CF-8F44-97B2-D399680458EA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5DD5-B0D4-A545-9463-C70297B070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56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pos="4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25E57-C5CF-8F44-97B2-D399680458EA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5DD5-B0D4-A545-9463-C70297B070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2894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947BD00B-2029-2A4B-0224-7DF54B9D8409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431014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D24CFD15-AEA9-ACC6-D22D-653C6A1D42B0}"/>
              </a:ext>
            </a:extLst>
          </p:cNvPr>
          <p:cNvSpPr/>
          <p:nvPr userDrawn="1"/>
        </p:nvSpPr>
        <p:spPr>
          <a:xfrm>
            <a:off x="154004" y="136526"/>
            <a:ext cx="11877576" cy="6584950"/>
          </a:xfrm>
          <a:prstGeom prst="roundRect">
            <a:avLst>
              <a:gd name="adj" fmla="val 38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25E57-C5CF-8F44-97B2-D399680458EA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5DD5-B0D4-A545-9463-C70297B070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061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947BD00B-2029-2A4B-0224-7DF54B9D8409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431014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7BD00B-2029-2A4B-0224-7DF54B9D84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D24CFD15-AEA9-ACC6-D22D-653C6A1D42B0}"/>
              </a:ext>
            </a:extLst>
          </p:cNvPr>
          <p:cNvSpPr/>
          <p:nvPr userDrawn="1"/>
        </p:nvSpPr>
        <p:spPr>
          <a:xfrm>
            <a:off x="154004" y="136526"/>
            <a:ext cx="11877576" cy="6584950"/>
          </a:xfrm>
          <a:prstGeom prst="roundRect">
            <a:avLst>
              <a:gd name="adj" fmla="val 38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880" y="18288"/>
            <a:ext cx="10515600" cy="686435"/>
          </a:xfrm>
        </p:spPr>
        <p:txBody>
          <a:bodyPr vert="horz" rIns="91440"/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884110"/>
            <a:ext cx="5181600" cy="529285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884110"/>
            <a:ext cx="5181600" cy="5292853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25E57-C5CF-8F44-97B2-D399680458EA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5DD5-B0D4-A545-9463-C70297B070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6721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 userDrawn="1">
          <p15:clr>
            <a:srgbClr val="FBAE40"/>
          </p15:clr>
        </p15:guide>
        <p15:guide id="2" orient="horz" pos="32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D5B14DF-AA5E-375A-6EB7-6A7C704E131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298027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0F0B7545-9075-BD79-8424-795A56CFC69B}"/>
              </a:ext>
            </a:extLst>
          </p:cNvPr>
          <p:cNvSpPr/>
          <p:nvPr userDrawn="1"/>
        </p:nvSpPr>
        <p:spPr>
          <a:xfrm>
            <a:off x="154004" y="136526"/>
            <a:ext cx="11877576" cy="6584950"/>
          </a:xfrm>
          <a:prstGeom prst="roundRect">
            <a:avLst>
              <a:gd name="adj" fmla="val 38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vert="horz" rIns="9144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25E57-C5CF-8F44-97B2-D399680458EA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5DD5-B0D4-A545-9463-C70297B070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3561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D96FA9F-D23C-A003-774B-7D83D6A9CF1A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945135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26794CC5-DD61-94BE-39A2-165429943DEE}"/>
              </a:ext>
            </a:extLst>
          </p:cNvPr>
          <p:cNvSpPr/>
          <p:nvPr userDrawn="1"/>
        </p:nvSpPr>
        <p:spPr>
          <a:xfrm>
            <a:off x="154004" y="136526"/>
            <a:ext cx="11877576" cy="6584950"/>
          </a:xfrm>
          <a:prstGeom prst="roundRect">
            <a:avLst>
              <a:gd name="adj" fmla="val 38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25E57-C5CF-8F44-97B2-D399680458EA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5DD5-B0D4-A545-9463-C70297B070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242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5CA9CAE-5FD9-4F4C-85B3-4B0EC6F05A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00396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01EAA921-2442-11C3-A499-DE2C5785D322}"/>
              </a:ext>
            </a:extLst>
          </p:cNvPr>
          <p:cNvSpPr/>
          <p:nvPr userDrawn="1"/>
        </p:nvSpPr>
        <p:spPr>
          <a:xfrm>
            <a:off x="154004" y="136526"/>
            <a:ext cx="11877576" cy="6584950"/>
          </a:xfrm>
          <a:prstGeom prst="roundRect">
            <a:avLst>
              <a:gd name="adj" fmla="val 38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25E57-C5CF-8F44-97B2-D399680458EA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5DD5-B0D4-A545-9463-C70297B070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61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90D482F-609C-7B64-612B-860A449CD9C9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077096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4187A258-5B72-4BDB-CDAA-6BB27BE1F5C5}"/>
              </a:ext>
            </a:extLst>
          </p:cNvPr>
          <p:cNvSpPr/>
          <p:nvPr userDrawn="1"/>
        </p:nvSpPr>
        <p:spPr>
          <a:xfrm>
            <a:off x="154004" y="136526"/>
            <a:ext cx="11877576" cy="6584950"/>
          </a:xfrm>
          <a:prstGeom prst="roundRect">
            <a:avLst>
              <a:gd name="adj" fmla="val 38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vert="horz" rIns="91440"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25E57-C5CF-8F44-97B2-D399680458EA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5DD5-B0D4-A545-9463-C70297B070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3633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6F47C1B4-D2B6-2EE4-7F48-9537245890D9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929812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51FCE544-E4D1-4E34-DE57-58422B191C85}"/>
              </a:ext>
            </a:extLst>
          </p:cNvPr>
          <p:cNvSpPr/>
          <p:nvPr userDrawn="1"/>
        </p:nvSpPr>
        <p:spPr>
          <a:xfrm>
            <a:off x="154004" y="136526"/>
            <a:ext cx="11877576" cy="6584950"/>
          </a:xfrm>
          <a:prstGeom prst="roundRect">
            <a:avLst>
              <a:gd name="adj" fmla="val 38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vert="horz" rIns="91440"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25E57-C5CF-8F44-97B2-D399680458EA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5DD5-B0D4-A545-9463-C70297B070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996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F9CEF2A-0072-C2F6-969B-5ECE49D2A5CA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405948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D244764D-8A4D-205D-DF28-0F03E2DA56C9}"/>
              </a:ext>
            </a:extLst>
          </p:cNvPr>
          <p:cNvSpPr/>
          <p:nvPr userDrawn="1"/>
        </p:nvSpPr>
        <p:spPr>
          <a:xfrm>
            <a:off x="154004" y="136526"/>
            <a:ext cx="11877576" cy="6584950"/>
          </a:xfrm>
          <a:prstGeom prst="roundRect">
            <a:avLst>
              <a:gd name="adj" fmla="val 38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25E57-C5CF-8F44-97B2-D399680458EA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5DD5-B0D4-A545-9463-C70297B070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988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CE53A43-F17F-B0AB-F97D-165036AD78FC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455291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65BC3F1F-6488-A011-4F7C-720FF6194EC6}"/>
              </a:ext>
            </a:extLst>
          </p:cNvPr>
          <p:cNvSpPr/>
          <p:nvPr userDrawn="1"/>
        </p:nvSpPr>
        <p:spPr>
          <a:xfrm>
            <a:off x="154004" y="136526"/>
            <a:ext cx="11877576" cy="6584950"/>
          </a:xfrm>
          <a:prstGeom prst="roundRect">
            <a:avLst>
              <a:gd name="adj" fmla="val 38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tIns="4572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25E57-C5CF-8F44-97B2-D399680458EA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5DD5-B0D4-A545-9463-C70297B070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070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D25E57-C5CF-8F44-97B2-D399680458EA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F35DD5-B0D4-A545-9463-C70297B07070}" type="slidenum">
              <a:rPr lang="ru-RU" smtClean="0"/>
              <a:t>‹#›</a:t>
            </a:fld>
            <a:endParaRPr lang="ru-RU"/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4844006-1722-627C-30FB-5BD09B3BB51B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60581413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16" imgW="7772400" imgH="10058400" progId="TCLayout.ActiveDocument.1">
                  <p:embed/>
                </p:oleObj>
              </mc:Choice>
              <mc:Fallback>
                <p:oleObj name="Слайд think-cell" r:id="rId16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A5B614-8558-B9E7-089B-C74E598562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840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76" r:id="rId5"/>
    <p:sldLayoutId id="2147483685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hyperlink" Target="https://t2.ru/dostup" TargetMode="Externa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4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48E571-BE5F-4DE7-3EC6-2B6FEB66F46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668901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607628-5F69-DB4F-90AB-A86083CE8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764" y="237033"/>
            <a:ext cx="10515600" cy="504451"/>
          </a:xfrm>
        </p:spPr>
        <p:txBody>
          <a:bodyPr vert="horz" rIns="91440">
            <a:normAutofit fontScale="90000"/>
          </a:bodyPr>
          <a:lstStyle/>
          <a:p>
            <a:r>
              <a:rPr lang="ru-RU" dirty="0">
                <a:latin typeface="T2 Halvar Breit ExtraBold" pitchFamily="2" charset="0"/>
              </a:rPr>
              <a:t>Новости рынка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C9CE81B-D9FA-D2E9-F9A5-3EDD98A80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823206"/>
              </p:ext>
            </p:extLst>
          </p:nvPr>
        </p:nvGraphicFramePr>
        <p:xfrm>
          <a:off x="426720" y="982980"/>
          <a:ext cx="11031070" cy="74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97784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308846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5395656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3628784">
                  <a:extLst>
                    <a:ext uri="{9D8B030D-6E8A-4147-A177-3AD203B41FA5}">
                      <a16:colId xmlns:a16="http://schemas.microsoft.com/office/drawing/2014/main" val="3911611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T2 Rooftop" pitchFamily="2" charset="0"/>
                        </a:rPr>
                        <a:t>Дата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T2 Rooftop" pitchFamily="2" charset="0"/>
                        </a:rPr>
                        <a:t>Стрим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T2 Rooftop" pitchFamily="2" charset="0"/>
                        </a:rPr>
                        <a:t>Описание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47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="0" i="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090101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268B8F5-CAA0-5062-A78B-43D1D9AE6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868148"/>
              </p:ext>
            </p:extLst>
          </p:nvPr>
        </p:nvGraphicFramePr>
        <p:xfrm>
          <a:off x="580464" y="2505040"/>
          <a:ext cx="11031071" cy="4130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6812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5540189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3729317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25.05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000" dirty="0">
                          <a:latin typeface="T2 Rooftop" pitchFamily="2" charset="0"/>
                        </a:rPr>
                        <a:t>Umnico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Проведено федеральное обучение SM по продукту и продажам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Проведение обучения на регулярной основе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064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27.05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000">
                          <a:latin typeface="T2 Rooftop" pitchFamily="2" charset="0"/>
                        </a:rPr>
                        <a:t>CORE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Перезапуск линейки «Федеральный» (технический)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800" dirty="0">
                          <a:latin typeface="T2 Rooftop" pitchFamily="2" charset="0"/>
                        </a:rPr>
                        <a:t>Технический перезапуск для будущих офсетов. Без изменений параметров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814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2 Rooftop" pitchFamily="2" charset="0"/>
                        </a:rPr>
                        <a:t>28.05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latin typeface="T2 Rooftop" pitchFamily="2" charset="0"/>
                        </a:rPr>
                        <a:t>SMS Hub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Запуск новых отчетов по тарификации из </a:t>
                      </a:r>
                      <a:r>
                        <a:rPr lang="en-US" sz="1000" dirty="0">
                          <a:latin typeface="T2 Rooftop" pitchFamily="2" charset="0"/>
                        </a:rPr>
                        <a:t>ЛК</a:t>
                      </a:r>
                      <a:r>
                        <a:rPr lang="ru-RU" sz="1000" dirty="0">
                          <a:latin typeface="T2 Rooftop" pitchFamily="2" charset="0"/>
                        </a:rPr>
                        <a:t> пользователя услугой. Проставлена стоимость по каждому унику в соответствии с кол-вом отправленных </a:t>
                      </a:r>
                      <a:r>
                        <a:rPr lang="en-US" sz="1000" dirty="0">
                          <a:latin typeface="T2 Rooftop" pitchFamily="2" charset="0"/>
                        </a:rPr>
                        <a:t>SMS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655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ru-RU" sz="1000" dirty="0">
                          <a:latin typeface="T2 Rooftop" pitchFamily="2" charset="0"/>
                        </a:rPr>
                        <a:t>01.06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000">
                          <a:latin typeface="T2 Rooftop" pitchFamily="2" charset="0"/>
                        </a:rPr>
                        <a:t>SMS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Изменение АП по согласованным именам отправителей на Т2, МТС, Билайн, К-Телеком и КТК-Телеком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685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ru-RU" sz="1000" dirty="0">
                          <a:latin typeface="T2 Rooftop" pitchFamily="2" charset="0"/>
                        </a:rPr>
                        <a:t>02.06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latin typeface="T2 Rooftop" pitchFamily="2" charset="0"/>
                        </a:rPr>
                        <a:t>SMS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Новый релиз: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Расширили набор смайликов в личном кабинете (студент, спортсмен, ребенок и др.);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Увеличили «срок жизни» аудитории в Яндекс и </a:t>
                      </a:r>
                      <a:r>
                        <a:rPr lang="en-US" sz="1000" dirty="0">
                          <a:effectLst/>
                          <a:latin typeface="T2 Rooftop" pitchFamily="2" charset="0"/>
                        </a:rPr>
                        <a:t>VK </a:t>
                      </a: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до 30 дней;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Упростили добавление клиентов в группы;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Автоматизировали рекламу для индивидуальных аудиторий;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Маскирование номеров для «ЦА в свободной форме»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800" dirty="0">
                          <a:latin typeface="T2 Rooftop" pitchFamily="2" charset="0"/>
                        </a:rPr>
                        <a:t>В </a:t>
                      </a:r>
                      <a:r>
                        <a:rPr lang="en-US" sz="800" dirty="0">
                          <a:latin typeface="T2 Rooftop" pitchFamily="2" charset="0"/>
                        </a:rPr>
                        <a:t>SMS-</a:t>
                      </a:r>
                      <a:r>
                        <a:rPr lang="ru-RU" sz="800" dirty="0">
                          <a:latin typeface="T2 Rooftop" pitchFamily="2" charset="0"/>
                        </a:rPr>
                        <a:t>Таргете клиенты могут собрать уникальную аудиторию: абонентов, которые посещали сайты, звонили и получали звонки от определенных номеров и сообщения от выбранных имен отправителей. Эту аудиторию можно перенести в </a:t>
                      </a:r>
                      <a:r>
                        <a:rPr lang="ru-RU" sz="800" dirty="0" err="1">
                          <a:latin typeface="T2 Rooftop" pitchFamily="2" charset="0"/>
                        </a:rPr>
                        <a:t>Яндекс.Директ</a:t>
                      </a:r>
                      <a:r>
                        <a:rPr lang="ru-RU" sz="800" dirty="0">
                          <a:latin typeface="T2 Rooftop" pitchFamily="2" charset="0"/>
                        </a:rPr>
                        <a:t> и </a:t>
                      </a:r>
                      <a:r>
                        <a:rPr lang="en-US" sz="800" dirty="0">
                          <a:latin typeface="T2 Rooftop" pitchFamily="2" charset="0"/>
                        </a:rPr>
                        <a:t>VK </a:t>
                      </a:r>
                      <a:r>
                        <a:rPr lang="ru-RU" sz="800" dirty="0">
                          <a:latin typeface="T2 Rooftop" pitchFamily="2" charset="0"/>
                        </a:rPr>
                        <a:t>Рекламу, чтобы показать предложение абонентам в формате баннеров/видео в </a:t>
                      </a:r>
                      <a:r>
                        <a:rPr lang="ru-RU" sz="800" dirty="0" err="1">
                          <a:latin typeface="T2 Rooftop" pitchFamily="2" charset="0"/>
                        </a:rPr>
                        <a:t>интернете,а</a:t>
                      </a:r>
                      <a:r>
                        <a:rPr lang="ru-RU" sz="800" dirty="0">
                          <a:latin typeface="T2 Rooftop" pitchFamily="2" charset="0"/>
                        </a:rPr>
                        <a:t> с помощью </a:t>
                      </a:r>
                      <a:r>
                        <a:rPr lang="en-US" sz="800" dirty="0">
                          <a:latin typeface="T2 Rooftop" pitchFamily="2" charset="0"/>
                        </a:rPr>
                        <a:t>SMS </a:t>
                      </a:r>
                      <a:r>
                        <a:rPr lang="ru-RU" sz="800" dirty="0">
                          <a:latin typeface="T2 Rooftop" pitchFamily="2" charset="0"/>
                        </a:rPr>
                        <a:t>отправить уникальную догоняющую рекламу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Автозапуск позволит ежедневно или еженедельно отправлять </a:t>
                      </a:r>
                      <a:r>
                        <a:rPr lang="en-US" sz="800" dirty="0">
                          <a:latin typeface="T2 Rooftop" pitchFamily="2" charset="0"/>
                        </a:rPr>
                        <a:t>SMS </a:t>
                      </a:r>
                      <a:r>
                        <a:rPr lang="ru-RU" sz="800" dirty="0">
                          <a:latin typeface="T2 Rooftop" pitchFamily="2" charset="0"/>
                        </a:rPr>
                        <a:t>по новым выгрузкам, без создания новой рассылки.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для рассылок по </a:t>
                      </a:r>
                      <a:r>
                        <a:rPr lang="en-US" sz="800" dirty="0">
                          <a:latin typeface="T2 Rooftop" pitchFamily="2" charset="0"/>
                        </a:rPr>
                        <a:t>API </a:t>
                      </a:r>
                      <a:r>
                        <a:rPr lang="ru-RU" sz="800" dirty="0">
                          <a:latin typeface="T2 Rooftop" pitchFamily="2" charset="0"/>
                        </a:rPr>
                        <a:t>с участием коллег из </a:t>
                      </a:r>
                      <a:r>
                        <a:rPr lang="en-US" sz="800" dirty="0">
                          <a:latin typeface="T2 Rooftop" pitchFamily="2" charset="0"/>
                        </a:rPr>
                        <a:t>BDO </a:t>
                      </a:r>
                      <a:r>
                        <a:rPr lang="ru-RU" sz="800" dirty="0">
                          <a:latin typeface="T2 Rooftop" pitchFamily="2" charset="0"/>
                        </a:rPr>
                        <a:t>все номера маскируются (шифруются) и не видны для пользователя личного кабинета </a:t>
                      </a:r>
                      <a:r>
                        <a:rPr lang="en-US" sz="800" dirty="0">
                          <a:latin typeface="T2 Rooftop" pitchFamily="2" charset="0"/>
                        </a:rPr>
                        <a:t>SMS-</a:t>
                      </a:r>
                      <a:r>
                        <a:rPr lang="ru-RU" sz="800" dirty="0">
                          <a:latin typeface="T2 Rooftop" pitchFamily="2" charset="0"/>
                        </a:rPr>
                        <a:t>Таргет. Привычная статистика по отправленным </a:t>
                      </a:r>
                      <a:r>
                        <a:rPr lang="en-US" sz="800" dirty="0">
                          <a:latin typeface="T2 Rooftop" pitchFamily="2" charset="0"/>
                        </a:rPr>
                        <a:t>SMS </a:t>
                      </a:r>
                      <a:r>
                        <a:rPr lang="ru-RU" sz="800" dirty="0">
                          <a:latin typeface="T2 Rooftop" pitchFamily="2" charset="0"/>
                        </a:rPr>
                        <a:t>в виде 4-х последних цифр номера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212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ru-RU" sz="1000" dirty="0">
                          <a:latin typeface="T2 Rooftop" pitchFamily="2" charset="0"/>
                        </a:rPr>
                        <a:t>10.06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000" dirty="0" err="1">
                          <a:latin typeface="T2 Rooftop" pitchFamily="2" charset="0"/>
                        </a:rPr>
                        <a:t>Геоплатформа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Обучение </a:t>
                      </a:r>
                      <a:r>
                        <a:rPr lang="en-US" sz="1000" dirty="0">
                          <a:effectLst/>
                          <a:latin typeface="T2 Rooftop" pitchFamily="2" charset="0"/>
                        </a:rPr>
                        <a:t>VAS-</a:t>
                      </a: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экспертов по </a:t>
                      </a:r>
                      <a:r>
                        <a:rPr lang="ru-RU" sz="1000" dirty="0" err="1">
                          <a:effectLst/>
                          <a:latin typeface="T2 Rooftop" pitchFamily="2" charset="0"/>
                        </a:rPr>
                        <a:t>Геоплатформе</a:t>
                      </a:r>
                      <a:endParaRPr lang="ru-RU" sz="1000" dirty="0">
                        <a:effectLst/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252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ru-RU" sz="1000" dirty="0">
                          <a:latin typeface="T2 Rooftop" pitchFamily="2" charset="0"/>
                        </a:rPr>
                        <a:t>0</a:t>
                      </a:r>
                      <a:r>
                        <a:rPr lang="en-US" sz="1000" dirty="0">
                          <a:latin typeface="T2 Rooftop" pitchFamily="2" charset="0"/>
                        </a:rPr>
                        <a:t>8</a:t>
                      </a:r>
                      <a:r>
                        <a:rPr lang="ru-RU" sz="1000" dirty="0">
                          <a:latin typeface="T2 Rooftop" pitchFamily="2" charset="0"/>
                        </a:rPr>
                        <a:t>.0</a:t>
                      </a:r>
                      <a:r>
                        <a:rPr lang="en-US" sz="1000" dirty="0">
                          <a:latin typeface="T2 Rooftop" pitchFamily="2" charset="0"/>
                        </a:rPr>
                        <a:t>7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000">
                          <a:latin typeface="T2 Rooftop" pitchFamily="2" charset="0"/>
                        </a:rPr>
                        <a:t>CORE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Завершение акции для новых абонентов с тарифным планом «Мой бизнес </a:t>
                      </a:r>
                      <a:r>
                        <a:rPr lang="ru-RU" sz="1000" dirty="0" err="1">
                          <a:effectLst/>
                          <a:latin typeface="T2 Rooftop" pitchFamily="2" charset="0"/>
                        </a:rPr>
                        <a:t>M</a:t>
                      </a: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800" dirty="0">
                          <a:latin typeface="T2 Rooftop" pitchFamily="2" charset="0"/>
                        </a:rPr>
                        <a:t>Безлимиты в публике за 300 руб.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807929"/>
                  </a:ext>
                </a:extLst>
              </a:tr>
            </a:tbl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92E4406-9207-1165-3AEE-A0794FB65D15}"/>
              </a:ext>
            </a:extLst>
          </p:cNvPr>
          <p:cNvSpPr txBox="1">
            <a:spLocks/>
          </p:cNvSpPr>
          <p:nvPr/>
        </p:nvSpPr>
        <p:spPr>
          <a:xfrm>
            <a:off x="511884" y="1924555"/>
            <a:ext cx="10515600" cy="504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>
                <a:latin typeface="T2 Halvar Breit ExtraBold" pitchFamily="2" charset="0"/>
              </a:rPr>
              <a:t>Запуски</a:t>
            </a:r>
          </a:p>
        </p:txBody>
      </p:sp>
    </p:spTree>
    <p:extLst>
      <p:ext uri="{BB962C8B-B14F-4D97-AF65-F5344CB8AC3E}">
        <p14:creationId xmlns:p14="http://schemas.microsoft.com/office/powerpoint/2010/main" val="43375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9CEEC-9232-F2DD-59BB-0861AA7DE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7DDE8A1-3385-4880-061C-364D7DFD3F0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68B52E-DBF7-5C52-BB21-470FF1D8CA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E919F8-EA36-A32B-317B-1318FEA3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134471"/>
            <a:ext cx="10515600" cy="555531"/>
          </a:xfrm>
        </p:spPr>
        <p:txBody>
          <a:bodyPr vert="horz" rIns="91440">
            <a:normAutofit/>
          </a:bodyPr>
          <a:lstStyle/>
          <a:p>
            <a:r>
              <a:rPr lang="ru-RU" sz="3200" dirty="0">
                <a:latin typeface="T2 Halvar Breit ExtraBold" pitchFamily="2" charset="0"/>
              </a:rPr>
              <a:t>Продуктовый офис: </a:t>
            </a:r>
            <a:r>
              <a:rPr lang="en-US" sz="3200" dirty="0">
                <a:latin typeface="T2 Halvar Breit ExtraBold" pitchFamily="2" charset="0"/>
              </a:rPr>
              <a:t>SMS</a:t>
            </a:r>
            <a:endParaRPr lang="ru-RU" sz="3200" dirty="0">
              <a:latin typeface="T2 Halvar Breit ExtraBold" pitchFamily="2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5DDBE456-01C5-B5A5-E1F9-0A22A844A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2292"/>
              </p:ext>
            </p:extLst>
          </p:nvPr>
        </p:nvGraphicFramePr>
        <p:xfrm>
          <a:off x="694764" y="943783"/>
          <a:ext cx="11031071" cy="469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6812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013012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6220738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2860509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524723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2 Rooftop" pitchFamily="2" charset="0"/>
                        </a:rPr>
                        <a:t>SMS </a:t>
                      </a:r>
                      <a:r>
                        <a:rPr lang="ru-RU" sz="1000" dirty="0">
                          <a:latin typeface="T2 Rooftop" pitchFamily="2" charset="0"/>
                        </a:rPr>
                        <a:t>Хаб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T2 Rooftop" pitchFamily="2" charset="0"/>
                        </a:rPr>
                        <a:t>Старт аккаунтинга:</a:t>
                      </a:r>
                    </a:p>
                    <a:p>
                      <a:r>
                        <a:rPr lang="ru-RU" sz="1000" dirty="0">
                          <a:latin typeface="T2 Rooftop" pitchFamily="2" charset="0"/>
                        </a:rPr>
                        <a:t>Старт аккаунтинга: аккаунты взяли в работу трафик Авито и ФНС</a:t>
                      </a:r>
                    </a:p>
                    <a:p>
                      <a:r>
                        <a:rPr lang="ru-RU" sz="1000" dirty="0" err="1">
                          <a:latin typeface="T2 Rooftop" pitchFamily="2" charset="0"/>
                        </a:rPr>
                        <a:t>Шаблонирование</a:t>
                      </a:r>
                      <a:r>
                        <a:rPr lang="ru-RU" sz="1000" dirty="0">
                          <a:latin typeface="T2 Rooftop" pitchFamily="2" charset="0"/>
                        </a:rPr>
                        <a:t> рассылок:</a:t>
                      </a:r>
                    </a:p>
                    <a:p>
                      <a:r>
                        <a:rPr lang="ru-RU" sz="1000" dirty="0">
                          <a:latin typeface="T2 Rooftop" pitchFamily="2" charset="0"/>
                        </a:rPr>
                        <a:t>ФНС – выполнено</a:t>
                      </a:r>
                    </a:p>
                    <a:p>
                      <a:r>
                        <a:rPr lang="en-US" sz="1000" dirty="0">
                          <a:latin typeface="T2 Rooftop" pitchFamily="2" charset="0"/>
                        </a:rPr>
                        <a:t>hh.ru </a:t>
                      </a:r>
                      <a:r>
                        <a:rPr lang="ru-RU" sz="1000" dirty="0">
                          <a:latin typeface="T2 Rooftop" pitchFamily="2" charset="0"/>
                        </a:rPr>
                        <a:t>и ОТП Банк – июнь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Без изменений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В апреле сделали шаблонизацию.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ФНС переведено и согласовано 14 шаблонов в сервисный трафик - 70% трафика попадает именно под эти шаблоны. Есть риск что нам придется эти шаблоны удалить из </a:t>
                      </a:r>
                      <a:r>
                        <a:rPr lang="en-US" sz="800" dirty="0">
                          <a:latin typeface="T2 Rooftop" pitchFamily="2" charset="0"/>
                        </a:rPr>
                        <a:t>Big4 </a:t>
                      </a:r>
                      <a:r>
                        <a:rPr lang="ru-RU" sz="800" dirty="0">
                          <a:latin typeface="T2 Rooftop" pitchFamily="2" charset="0"/>
                        </a:rPr>
                        <a:t>в виду запуска каскадирования в </a:t>
                      </a:r>
                      <a:r>
                        <a:rPr lang="en-US" sz="800" dirty="0">
                          <a:latin typeface="T2 Rooftop" pitchFamily="2" charset="0"/>
                        </a:rPr>
                        <a:t>MAX.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T2 Rooftop" pitchFamily="2" charset="0"/>
                        </a:rPr>
                        <a:t>AVITO - 50 </a:t>
                      </a:r>
                      <a:r>
                        <a:rPr lang="ru-RU" sz="800" dirty="0">
                          <a:latin typeface="T2 Rooftop" pitchFamily="2" charset="0"/>
                        </a:rPr>
                        <a:t>шаблонов  Ближайшие результат увидим в мае.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090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❗️</a:t>
                      </a: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Контроль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T2 Rooftop" pitchFamily="2" charset="0"/>
                        </a:rPr>
                        <a:t>Направить письмо на Яковлева / Тимощук / </a:t>
                      </a:r>
                      <a:r>
                        <a:rPr lang="en-US" sz="1000" dirty="0">
                          <a:latin typeface="T2 Rooftop" pitchFamily="2" charset="0"/>
                        </a:rPr>
                        <a:t>VAS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о том, как будут работать рассылки (кроме рекламных) с отправкой в </a:t>
                      </a:r>
                      <a:r>
                        <a:rPr lang="en-US" sz="1000" dirty="0">
                          <a:latin typeface="T2 Rooftop" pitchFamily="2" charset="0"/>
                        </a:rPr>
                        <a:t>MAX</a:t>
                      </a:r>
                      <a:r>
                        <a:rPr lang="ru-RU" sz="1000" dirty="0">
                          <a:latin typeface="T2 Rooftop" pitchFamily="2" charset="0"/>
                        </a:rPr>
                        <a:t>, проработать коммуникацию для сотрудников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T2 Rooftop" pitchFamily="2" charset="0"/>
                        </a:rPr>
                        <a:t>Пока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 не можем говорить о конкретики, в виду условий договора. Совместно с </a:t>
                      </a:r>
                      <a:r>
                        <a:rPr lang="en-US" sz="800" baseline="0" dirty="0">
                          <a:latin typeface="T2 Rooftop" pitchFamily="2" charset="0"/>
                        </a:rPr>
                        <a:t>Max 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готовим уведомление, которое можем разглашать клиентам.</a:t>
                      </a: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453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❗️</a:t>
                      </a: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Контроль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Направить рассылку от </a:t>
                      </a:r>
                      <a:r>
                        <a:rPr lang="en-US" sz="1000" dirty="0">
                          <a:latin typeface="T2 Rooftop" pitchFamily="2" charset="0"/>
                        </a:rPr>
                        <a:t>B2B_Product_info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по отправке </a:t>
                      </a:r>
                      <a:r>
                        <a:rPr lang="en-US" sz="1000" dirty="0">
                          <a:latin typeface="T2 Rooftop" pitchFamily="2" charset="0"/>
                        </a:rPr>
                        <a:t>c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ообщений</a:t>
                      </a:r>
                      <a:r>
                        <a:rPr lang="ru-RU" sz="1000" dirty="0">
                          <a:latin typeface="T2 Rooftop" pitchFamily="2" charset="0"/>
                        </a:rPr>
                        <a:t> в </a:t>
                      </a:r>
                      <a:r>
                        <a:rPr lang="en-US" sz="1000" dirty="0">
                          <a:latin typeface="T2 Rooftop" pitchFamily="2" charset="0"/>
                        </a:rPr>
                        <a:t>MAX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T2 Rooftop" pitchFamily="2" charset="0"/>
                        </a:rPr>
                        <a:t>Пока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 не можем говорить о конкретики, в виду условий договора. Совместно с </a:t>
                      </a:r>
                      <a:r>
                        <a:rPr lang="en-US" sz="800" baseline="0" dirty="0">
                          <a:latin typeface="T2 Rooftop" pitchFamily="2" charset="0"/>
                        </a:rPr>
                        <a:t>Max 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готовим уведомление, которое можем разглашать клиентам.</a:t>
                      </a: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876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SMS Hub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T2 Rooftop" pitchFamily="2" charset="0"/>
                        </a:rPr>
                        <a:t>Претензия от РТК по </a:t>
                      </a:r>
                      <a:r>
                        <a:rPr lang="en-US" sz="1000" dirty="0">
                          <a:latin typeface="T2 Rooftop" pitchFamily="2" charset="0"/>
                        </a:rPr>
                        <a:t>SMS-</a:t>
                      </a:r>
                      <a:r>
                        <a:rPr lang="ru-RU" sz="1000" dirty="0">
                          <a:latin typeface="T2 Rooftop" pitchFamily="2" charset="0"/>
                        </a:rPr>
                        <a:t>рассылкам (планируют обращение в ФАС) – подготовить фактуру для передачи М. Чинковой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T2 Rooftop" pitchFamily="2" charset="0"/>
                        </a:rPr>
                        <a:t>Претензий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 пока нет.</a:t>
                      </a: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25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❗️</a:t>
                      </a: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Контроль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T2 Rooftop" pitchFamily="2" charset="0"/>
                        </a:rPr>
                        <a:t>Отрицательная маржинальность по договору с РТК, со стороны </a:t>
                      </a:r>
                      <a:r>
                        <a:rPr lang="en-US" sz="1000" dirty="0">
                          <a:latin typeface="T2 Rooftop" pitchFamily="2" charset="0"/>
                        </a:rPr>
                        <a:t>VAS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нет информации о таком договоре - подготовить фактуру для С. Балкового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Закупка прошла </a:t>
                      </a:r>
                      <a:r>
                        <a:rPr lang="ru-RU" sz="1000" dirty="0">
                          <a:latin typeface="T2 Rooftop" pitchFamily="2" charset="0"/>
                        </a:rPr>
                        <a:t>успешно, с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ретрооговоркой</a:t>
                      </a:r>
                      <a:r>
                        <a:rPr lang="ru-RU" sz="1000" dirty="0">
                          <a:latin typeface="T2 Rooftop" pitchFamily="2" charset="0"/>
                        </a:rPr>
                        <a:t> по изменению стоимости с 01.05 (уже поменяли всё на уников, с индивидуальной скидкой по операторам) На </a:t>
                      </a:r>
                      <a:r>
                        <a:rPr lang="en-US" sz="1000" dirty="0">
                          <a:latin typeface="T2 Rooftop" pitchFamily="2" charset="0"/>
                        </a:rPr>
                        <a:t>GM 7-10%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за май, смотрим и наблюдаем.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T2 Rooftop" pitchFamily="2" charset="0"/>
                        </a:rPr>
                        <a:t>GM </a:t>
                      </a:r>
                      <a:r>
                        <a:rPr lang="ru-RU" sz="800" dirty="0">
                          <a:latin typeface="T2 Rooftop" pitchFamily="2" charset="0"/>
                        </a:rPr>
                        <a:t>по договору направим вместе с клиентами </a:t>
                      </a:r>
                      <a:r>
                        <a:rPr lang="en-US" sz="800" dirty="0">
                          <a:latin typeface="T2 Rooftop" pitchFamily="2" charset="0"/>
                        </a:rPr>
                        <a:t>t2 hub. </a:t>
                      </a:r>
                      <a:r>
                        <a:rPr lang="ru-RU" sz="800" dirty="0">
                          <a:latin typeface="T2 Rooftop" pitchFamily="2" charset="0"/>
                        </a:rPr>
                        <a:t>Выявлены особенности по шаблонизации, у РТК большинство шаблонов - сервисные, но сервисного трафика в </a:t>
                      </a:r>
                      <a:r>
                        <a:rPr lang="en-US" sz="800" dirty="0">
                          <a:latin typeface="T2 Rooftop" pitchFamily="2" charset="0"/>
                        </a:rPr>
                        <a:t>t2 </a:t>
                      </a:r>
                      <a:r>
                        <a:rPr lang="ru-RU" sz="800" dirty="0">
                          <a:latin typeface="T2 Rooftop" pitchFamily="2" charset="0"/>
                        </a:rPr>
                        <a:t>нет. </a:t>
                      </a:r>
                      <a:r>
                        <a:rPr lang="ru-RU" sz="800" dirty="0" err="1">
                          <a:latin typeface="T2 Rooftop" pitchFamily="2" charset="0"/>
                        </a:rPr>
                        <a:t>Протарифицировалось</a:t>
                      </a:r>
                      <a:r>
                        <a:rPr lang="ru-RU" sz="800" dirty="0">
                          <a:latin typeface="T2 Rooftop" pitchFamily="2" charset="0"/>
                        </a:rPr>
                        <a:t> как реклама.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840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SMS Hub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T2 Rooftop" pitchFamily="2" charset="0"/>
                        </a:rPr>
                        <a:t>Необходимо поставить на потом изменение стоимости для клиентов, у которых изменение стоимости производится через 30 дней, после информирования. Вариант 1 – текущий (информирование и потом изменение сроков в зависимости от того, когда проинформировали клиента), вариант 2 – жесткий (изменение стоимости не зависимо от того, проинформировали ли клиента)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887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latin typeface="T2 Rooftop" pitchFamily="2" charset="0"/>
                        </a:rPr>
                        <a:t>31.07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SMS Hub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T2 Rooftop" pitchFamily="2" charset="0"/>
                        </a:rPr>
                        <a:t>Переезд в ЦОД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Ростов</a:t>
                      </a:r>
                      <a:r>
                        <a:rPr lang="ru-RU" sz="1000" dirty="0">
                          <a:latin typeface="T2 Rooftop" pitchFamily="2" charset="0"/>
                        </a:rPr>
                        <a:t>. (до 31.07)  –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отсутствуют шаги по переезду.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06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669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78715-195A-1FCA-1862-5668AA2F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BBC57CA-736D-086F-444C-C8F7D410636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DDE8A1-3385-4880-061C-364D7DFD3F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3007EE-C7B4-B35E-D32A-91EF799B8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134471"/>
            <a:ext cx="10515600" cy="555531"/>
          </a:xfrm>
        </p:spPr>
        <p:txBody>
          <a:bodyPr vert="horz" rIns="91440">
            <a:normAutofit/>
          </a:bodyPr>
          <a:lstStyle/>
          <a:p>
            <a:r>
              <a:rPr lang="ru-RU" sz="3200" dirty="0">
                <a:latin typeface="T2 Halvar Breit ExtraBold" pitchFamily="2" charset="0"/>
              </a:rPr>
              <a:t>Продуктовый офис: </a:t>
            </a:r>
            <a:r>
              <a:rPr lang="en-US" sz="3200" dirty="0">
                <a:latin typeface="T2 Halvar Breit ExtraBold" pitchFamily="2" charset="0"/>
              </a:rPr>
              <a:t>SMS</a:t>
            </a:r>
            <a:endParaRPr lang="ru-RU" sz="3200" dirty="0">
              <a:latin typeface="T2 Halvar Breit ExtraBold" pitchFamily="2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36C280D3-BC50-9984-9A00-6CD8C1504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187937"/>
              </p:ext>
            </p:extLst>
          </p:nvPr>
        </p:nvGraphicFramePr>
        <p:xfrm>
          <a:off x="694764" y="943783"/>
          <a:ext cx="11031071" cy="4968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6812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013012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6033247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SMS Hub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T2 Rooftop" pitchFamily="2" charset="0"/>
                        </a:rPr>
                        <a:t>hh.ru</a:t>
                      </a:r>
                      <a:r>
                        <a:rPr lang="en-US" sz="1000" dirty="0">
                          <a:latin typeface="T2 Rooftop" pitchFamily="2" charset="0"/>
                        </a:rPr>
                        <a:t> –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попытки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зашаблонировать</a:t>
                      </a:r>
                      <a:r>
                        <a:rPr lang="ru-RU" sz="1000" dirty="0">
                          <a:latin typeface="T2 Rooftop" pitchFamily="2" charset="0"/>
                        </a:rPr>
                        <a:t> трафик, также выровнялись рассылки по аккаунтам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T2 Rooftop" pitchFamily="2" charset="0"/>
                        </a:rPr>
                        <a:t>Отдали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 на аккаунтинг в мае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Ожидаем эффекта в июне.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090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SMS Hub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Новые клиенты: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2 Rooftop" pitchFamily="2" charset="0"/>
                        </a:rPr>
                        <a:t>HR link –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переключили на нас около 10% трафика (выручка мая 500 тыс.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руб</a:t>
                      </a:r>
                      <a:r>
                        <a:rPr lang="ru-RU" sz="1000" dirty="0">
                          <a:latin typeface="T2 Rooftop" pitchFamily="2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Озон – в процессе согласования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T2 Rooftop" pitchFamily="2" charset="0"/>
                        </a:rPr>
                        <a:t>Winline</a:t>
                      </a:r>
                      <a:r>
                        <a:rPr lang="en-US" sz="1000" dirty="0">
                          <a:latin typeface="T2 Rooftop" pitchFamily="2" charset="0"/>
                        </a:rPr>
                        <a:t> –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переключили после 20.04 (выручка за апрель около 2 млн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руб</a:t>
                      </a:r>
                      <a:r>
                        <a:rPr lang="ru-RU" sz="1000" dirty="0">
                          <a:latin typeface="T2 Rooftop" pitchFamily="2" charset="0"/>
                        </a:rPr>
                        <a:t>, май – 11,8 млн.)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err="1">
                          <a:latin typeface="T2 Rooftop" pitchFamily="2" charset="0"/>
                        </a:rPr>
                        <a:t>ДомКлик</a:t>
                      </a:r>
                      <a:r>
                        <a:rPr lang="ru-RU" sz="1000" dirty="0">
                          <a:latin typeface="T2 Rooftop" pitchFamily="2" charset="0"/>
                        </a:rPr>
                        <a:t> – часть трафика будет переведено на нас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453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SMS Hub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T2 Rooftop" pitchFamily="2" charset="0"/>
                        </a:rPr>
                        <a:t>Новый тендер по Совкомбанку (Калининград)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Клиент огорчен нашим новым предложением, "думает", </a:t>
                      </a:r>
                      <a:r>
                        <a:rPr lang="en-US" sz="1000" dirty="0">
                          <a:latin typeface="T2 Rooftop" pitchFamily="2" charset="0"/>
                        </a:rPr>
                        <a:t>VAS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будут делать новый заход в конце Июня.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T2 Rooftop" pitchFamily="2" charset="0"/>
                        </a:rPr>
                        <a:t>Считаем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 стоимость </a:t>
                      </a:r>
                      <a:r>
                        <a:rPr lang="en-US" sz="800" baseline="0" dirty="0">
                          <a:latin typeface="T2 Rooftop" pitchFamily="2" charset="0"/>
                        </a:rPr>
                        <a:t>t2-5% 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по уникам, Мега 5% по уникам. С другими скидками большое влияние на </a:t>
                      </a:r>
                      <a:r>
                        <a:rPr lang="en-US" sz="800" baseline="0" dirty="0">
                          <a:latin typeface="T2 Rooftop" pitchFamily="2" charset="0"/>
                        </a:rPr>
                        <a:t>GM1 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в </a:t>
                      </a:r>
                      <a:r>
                        <a:rPr lang="en-US" sz="800" baseline="0" dirty="0">
                          <a:latin typeface="T2 Rooftop" pitchFamily="2" charset="0"/>
                        </a:rPr>
                        <a:t>A2P</a:t>
                      </a: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876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SMS Hub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Кейс с Озоном.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02.06. проведена встреча с клиентом. Хотим дать приоритет </a:t>
                      </a:r>
                      <a:r>
                        <a:rPr lang="en-US" sz="1000" dirty="0">
                          <a:latin typeface="T2 Rooftop" pitchFamily="2" charset="0"/>
                        </a:rPr>
                        <a:t>SMS-</a:t>
                      </a:r>
                      <a:r>
                        <a:rPr lang="ru-RU" sz="1000" dirty="0">
                          <a:latin typeface="T2 Rooftop" pitchFamily="2" charset="0"/>
                        </a:rPr>
                        <a:t>трафику перед 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пушами</a:t>
                      </a:r>
                      <a:r>
                        <a:rPr lang="ru-RU" sz="1000" dirty="0">
                          <a:latin typeface="T2 Rooftop" pitchFamily="2" charset="0"/>
                        </a:rPr>
                        <a:t>, взамен на безлимитный пакет для авторизации.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КАМ (</a:t>
                      </a:r>
                      <a:r>
                        <a:rPr kumimoji="0" lang="ru-RU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Другин</a:t>
                      </a: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 Игорь) нужна встреча, чтобы выработать общий концепт по работе и условиям отправки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SMS </a:t>
                      </a: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для клиента: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Оставляем </a:t>
                      </a:r>
                      <a:r>
                        <a:rPr kumimoji="0" lang="ru-RU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пофактовую</a:t>
                      </a: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 (шт.) тарификацию для авторизации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Делаем безлимитный пакет за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X </a:t>
                      </a: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руб.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405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latin typeface="T2 Rooftop" pitchFamily="2" charset="0"/>
                        </a:rPr>
                        <a:t>28.05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SMS Hub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Отчеты по тарификации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28.05 выкатили отчеты по тарификации, который можно скачать из интерфейса клиента. Проставлена стоимость по каждому унику в соответствии с кол-вом отправленных </a:t>
                      </a:r>
                      <a:r>
                        <a:rPr lang="en-US" sz="1000" dirty="0">
                          <a:latin typeface="T2 Rooftop" pitchFamily="2" charset="0"/>
                        </a:rPr>
                        <a:t>SMS. </a:t>
                      </a:r>
                      <a:r>
                        <a:rPr lang="ru-RU" sz="1000" dirty="0">
                          <a:latin typeface="T2 Rooftop" pitchFamily="2" charset="0"/>
                        </a:rPr>
                        <a:t>Реализовано успешно.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836003"/>
                  </a:ext>
                </a:extLst>
              </a:tr>
              <a:tr h="322938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‼️ 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SMS Hub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Кастомные отчеты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РТК (БД +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Тололо</a:t>
                      </a:r>
                      <a:r>
                        <a:rPr lang="ru-RU" sz="1000" dirty="0">
                          <a:latin typeface="T2 Rooftop" pitchFamily="2" charset="0"/>
                        </a:rPr>
                        <a:t>) и ГУ. Закрываем мая текущими ресурсами на стороне продукта и аккаунтов. Июнь передаём в команду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Рабовик</a:t>
                      </a:r>
                      <a:r>
                        <a:rPr lang="ru-RU" sz="1000" dirty="0">
                          <a:latin typeface="T2 Rooftop" pitchFamily="2" charset="0"/>
                        </a:rPr>
                        <a:t> или аналитику Зиминой/Тимощук. Далее аналогичный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кастом</a:t>
                      </a:r>
                      <a:r>
                        <a:rPr lang="ru-RU" sz="1000" dirty="0">
                          <a:latin typeface="T2 Rooftop" pitchFamily="2" charset="0"/>
                        </a:rPr>
                        <a:t> только за деньги.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067418"/>
                  </a:ext>
                </a:extLst>
              </a:tr>
              <a:tr h="322938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SMS-</a:t>
                      </a: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Таргет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Описали </a:t>
                      </a:r>
                      <a:r>
                        <a:rPr lang="en-US" sz="1000" dirty="0">
                          <a:latin typeface="T2 Rooftop" pitchFamily="2" charset="0"/>
                        </a:rPr>
                        <a:t>CJ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и сформировали требования для реализации </a:t>
                      </a:r>
                      <a:r>
                        <a:rPr lang="en-US" sz="1000" dirty="0">
                          <a:latin typeface="T2 Rooftop" pitchFamily="2" charset="0"/>
                        </a:rPr>
                        <a:t>API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на стороне </a:t>
                      </a:r>
                      <a:r>
                        <a:rPr lang="en-US" sz="1000" dirty="0">
                          <a:latin typeface="T2 Rooftop" pitchFamily="2" charset="0"/>
                        </a:rPr>
                        <a:t>YABBI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Встройка </a:t>
                      </a:r>
                      <a:r>
                        <a:rPr kumimoji="0" 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programatic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рекламы в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digital </a:t>
                      </a: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формате в кабинет Таргета. Баннерная реклама как </a:t>
                      </a:r>
                      <a:r>
                        <a:rPr kumimoji="0" lang="ru-RU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доп.инвентарь</a:t>
                      </a: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 к основному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SMS-</a:t>
                      </a: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каналу для возможности конкурировать с аналогичными сервисами, которые предоставляют возможность запускать рекламу в интернете помимо базовых телеком-каналов (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SMS, MMS, PUSH).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905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6921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C1C71-E4BE-8C0D-768D-D3D7D8DD4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A92B14E-EF81-4522-2F2E-3D352A40BCE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BC57CA-736D-086F-444C-C8F7D41063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643752-C10B-F3B5-61C2-24605D1F9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134471"/>
            <a:ext cx="10515600" cy="555531"/>
          </a:xfrm>
        </p:spPr>
        <p:txBody>
          <a:bodyPr vert="horz" rIns="91440">
            <a:normAutofit/>
          </a:bodyPr>
          <a:lstStyle/>
          <a:p>
            <a:r>
              <a:rPr lang="ru-RU" sz="3200" dirty="0">
                <a:latin typeface="T2 Halvar Breit ExtraBold" pitchFamily="2" charset="0"/>
              </a:rPr>
              <a:t>Продуктовый офис: </a:t>
            </a:r>
            <a:r>
              <a:rPr lang="en-US" sz="3200" dirty="0">
                <a:latin typeface="T2 Halvar Breit ExtraBold" pitchFamily="2" charset="0"/>
              </a:rPr>
              <a:t>SMS</a:t>
            </a:r>
            <a:endParaRPr lang="ru-RU" sz="3200" dirty="0">
              <a:latin typeface="T2 Halvar Breit ExtraBold" pitchFamily="2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5AF8A022-DCEF-24CB-1517-6C3936B11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926962"/>
              </p:ext>
            </p:extLst>
          </p:nvPr>
        </p:nvGraphicFramePr>
        <p:xfrm>
          <a:off x="694764" y="943783"/>
          <a:ext cx="11031071" cy="5029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6812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013012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6033247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SMS-</a:t>
                      </a: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Таргет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Договоренности с </a:t>
                      </a:r>
                      <a:r>
                        <a:rPr lang="en-US" sz="1000" dirty="0">
                          <a:latin typeface="T2 Rooftop" pitchFamily="2" charset="0"/>
                        </a:rPr>
                        <a:t>BDO:</a:t>
                      </a:r>
                      <a:br>
                        <a:rPr lang="en-US" sz="1000" dirty="0">
                          <a:latin typeface="T2 Rooftop" pitchFamily="2" charset="0"/>
                        </a:rPr>
                      </a:br>
                      <a:r>
                        <a:rPr lang="en-US" sz="1000" dirty="0">
                          <a:latin typeface="T2 Rooftop" pitchFamily="2" charset="0"/>
                        </a:rPr>
                        <a:t>1. </a:t>
                      </a:r>
                      <a:r>
                        <a:rPr lang="ru-RU" sz="1000" dirty="0">
                          <a:latin typeface="T2 Rooftop" pitchFamily="2" charset="0"/>
                        </a:rPr>
                        <a:t>Анализ отрасли (предмета рекламы) по тексту через ИИ</a:t>
                      </a:r>
                      <a:br>
                        <a:rPr lang="ru-RU" sz="1000" dirty="0">
                          <a:latin typeface="T2 Rooftop" pitchFamily="2" charset="0"/>
                        </a:rPr>
                      </a:br>
                      <a:r>
                        <a:rPr lang="ru-RU" sz="1000" dirty="0">
                          <a:latin typeface="T2 Rooftop" pitchFamily="2" charset="0"/>
                        </a:rPr>
                        <a:t>2. Пилот до конца года скрытого таргетирования по ключам и словосочетаниям в тексте</a:t>
                      </a:r>
                      <a:br>
                        <a:rPr lang="ru-RU" sz="1000" dirty="0">
                          <a:latin typeface="T2 Rooftop" pitchFamily="2" charset="0"/>
                        </a:rPr>
                      </a:br>
                      <a:r>
                        <a:rPr lang="ru-RU" sz="1000" dirty="0">
                          <a:latin typeface="T2 Rooftop" pitchFamily="2" charset="0"/>
                        </a:rPr>
                        <a:t>3. Данные о кол-ве звонков (сейчас анализ, готовим данные и ждем фактуру)</a:t>
                      </a:r>
                      <a:br>
                        <a:rPr lang="ru-RU" sz="1000" dirty="0">
                          <a:latin typeface="T2 Rooftop" pitchFamily="2" charset="0"/>
                        </a:rPr>
                      </a:br>
                      <a:r>
                        <a:rPr lang="ru-RU" sz="1000" dirty="0">
                          <a:latin typeface="T2 Rooftop" pitchFamily="2" charset="0"/>
                        </a:rPr>
                        <a:t>4. Подтвердили реализуемость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доп.опций</a:t>
                      </a:r>
                      <a:r>
                        <a:rPr lang="ru-RU" sz="1000" dirty="0">
                          <a:latin typeface="T2 Rooftop" pitchFamily="2" charset="0"/>
                        </a:rPr>
                        <a:t>: СМС, когда абонент активен, СМС в день ЗП, Имя в таргетированных рассылках (на оценке рисков)</a:t>
                      </a:r>
                      <a:br>
                        <a:rPr lang="ru-RU" sz="1000" dirty="0">
                          <a:latin typeface="T2 Rooftop" pitchFamily="2" charset="0"/>
                        </a:rPr>
                      </a:br>
                      <a:r>
                        <a:rPr lang="ru-RU" sz="1000" dirty="0">
                          <a:latin typeface="T2 Rooftop" pitchFamily="2" charset="0"/>
                        </a:rPr>
                        <a:t>5. Договорились посмотреть </a:t>
                      </a:r>
                      <a:r>
                        <a:rPr lang="en-US" sz="1000" dirty="0">
                          <a:latin typeface="T2 Rooftop" pitchFamily="2" charset="0"/>
                        </a:rPr>
                        <a:t>roadmap</a:t>
                      </a:r>
                      <a:r>
                        <a:rPr lang="ru-RU" sz="1000" dirty="0">
                          <a:latin typeface="T2 Rooftop" pitchFamily="2" charset="0"/>
                        </a:rPr>
                        <a:t> </a:t>
                      </a:r>
                      <a:r>
                        <a:rPr lang="en-US" sz="1000" dirty="0">
                          <a:latin typeface="T2 Rooftop" pitchFamily="2" charset="0"/>
                        </a:rPr>
                        <a:t>BDO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и запланировать реализацию части функций на своей стороне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2 Rooftop" pitchFamily="2" charset="0"/>
                        </a:rPr>
                        <a:t>1. </a:t>
                      </a:r>
                      <a:r>
                        <a:rPr lang="ru-RU" sz="800" dirty="0">
                          <a:latin typeface="T2 Rooftop" pitchFamily="2" charset="0"/>
                        </a:rPr>
                        <a:t>Анализ отрасли делаем для реализации важных функций:</a:t>
                      </a:r>
                      <a:br>
                        <a:rPr lang="ru-RU" sz="800" dirty="0">
                          <a:latin typeface="T2 Rooftop" pitchFamily="2" charset="0"/>
                        </a:rPr>
                      </a:br>
                      <a:r>
                        <a:rPr lang="ru-RU" sz="800" dirty="0">
                          <a:latin typeface="T2 Rooftop" pitchFamily="2" charset="0"/>
                        </a:rPr>
                        <a:t>- автоматическая сборка сегментов – ИИ помощник</a:t>
                      </a:r>
                      <a:br>
                        <a:rPr lang="ru-RU" sz="800" dirty="0">
                          <a:latin typeface="T2 Rooftop" pitchFamily="2" charset="0"/>
                        </a:rPr>
                      </a:br>
                      <a:r>
                        <a:rPr lang="ru-RU" sz="800" dirty="0">
                          <a:latin typeface="T2 Rooftop" pitchFamily="2" charset="0"/>
                        </a:rPr>
                        <a:t>- бенчи в отраслях – прогноз по эффективности для клиентов</a:t>
                      </a:r>
                      <a:br>
                        <a:rPr lang="ru-RU" sz="800" dirty="0">
                          <a:latin typeface="T2 Rooftop" pitchFamily="2" charset="0"/>
                        </a:rPr>
                      </a:br>
                      <a:r>
                        <a:rPr lang="ru-RU" sz="800" dirty="0">
                          <a:latin typeface="T2 Rooftop" pitchFamily="2" charset="0"/>
                        </a:rPr>
                        <a:t>- кликабельность по времени по отраслям – советы по времени отправки для клиентов</a:t>
                      </a:r>
                      <a:br>
                        <a:rPr lang="ru-RU" sz="800" dirty="0">
                          <a:latin typeface="T2 Rooftop" pitchFamily="2" charset="0"/>
                        </a:rPr>
                      </a:br>
                      <a:endParaRPr lang="ru-RU" sz="800" dirty="0">
                        <a:latin typeface="T2 Rooftop" pitchFamily="2" charset="0"/>
                      </a:endParaRPr>
                    </a:p>
                    <a:p>
                      <a:r>
                        <a:rPr lang="en-US" sz="800" dirty="0">
                          <a:latin typeface="T2 Rooftop" pitchFamily="2" charset="0"/>
                        </a:rPr>
                        <a:t>2. </a:t>
                      </a:r>
                      <a:r>
                        <a:rPr lang="ru-RU" sz="800" dirty="0">
                          <a:latin typeface="T2 Rooftop" pitchFamily="2" charset="0"/>
                        </a:rPr>
                        <a:t>Скрытое таргетирование нужно для увеличения эффективности кампаний (рост </a:t>
                      </a:r>
                      <a:r>
                        <a:rPr lang="en-US" sz="800" dirty="0">
                          <a:latin typeface="T2 Rooftop" pitchFamily="2" charset="0"/>
                        </a:rPr>
                        <a:t>CTR </a:t>
                      </a:r>
                      <a:r>
                        <a:rPr lang="ru-RU" sz="800" dirty="0">
                          <a:latin typeface="T2 Rooftop" pitchFamily="2" charset="0"/>
                        </a:rPr>
                        <a:t>по кампаниям)</a:t>
                      </a:r>
                      <a:br>
                        <a:rPr lang="ru-RU" sz="800" dirty="0">
                          <a:latin typeface="T2 Rooftop" pitchFamily="2" charset="0"/>
                        </a:rPr>
                      </a:br>
                      <a:endParaRPr lang="ru-RU" sz="800" dirty="0">
                        <a:latin typeface="T2 Rooftop" pitchFamily="2" charset="0"/>
                      </a:endParaRPr>
                    </a:p>
                    <a:p>
                      <a:r>
                        <a:rPr lang="en-US" sz="800" dirty="0">
                          <a:latin typeface="T2 Rooftop" pitchFamily="2" charset="0"/>
                        </a:rPr>
                        <a:t>3. </a:t>
                      </a:r>
                      <a:r>
                        <a:rPr lang="ru-RU" sz="800" dirty="0">
                          <a:latin typeface="T2 Rooftop" pitchFamily="2" charset="0"/>
                        </a:rPr>
                        <a:t>Данные о звонках нужны для построения расширенных отчетов по рекламным кампаниям (сколько было переходов и звонков)</a:t>
                      </a:r>
                      <a:br>
                        <a:rPr lang="ru-RU" sz="800" dirty="0">
                          <a:latin typeface="T2 Rooftop" pitchFamily="2" charset="0"/>
                        </a:rPr>
                      </a:br>
                      <a:endParaRPr lang="ru-RU" sz="800" dirty="0">
                        <a:latin typeface="T2 Rooftop" pitchFamily="2" charset="0"/>
                      </a:endParaRPr>
                    </a:p>
                    <a:p>
                      <a:r>
                        <a:rPr lang="en-US" sz="800" dirty="0">
                          <a:latin typeface="T2 Rooftop" pitchFamily="2" charset="0"/>
                        </a:rPr>
                        <a:t>4. </a:t>
                      </a:r>
                      <a:r>
                        <a:rPr lang="ru-RU" sz="800" dirty="0" err="1">
                          <a:latin typeface="T2 Rooftop" pitchFamily="2" charset="0"/>
                        </a:rPr>
                        <a:t>Доп.опции</a:t>
                      </a:r>
                      <a:r>
                        <a:rPr lang="ru-RU" sz="800" dirty="0">
                          <a:latin typeface="T2 Rooftop" pitchFamily="2" charset="0"/>
                        </a:rPr>
                        <a:t> влияют на рост выручки за счет их приобретения при рассылках, а также на эффективность кампаний</a:t>
                      </a:r>
                      <a:br>
                        <a:rPr lang="ru-RU" sz="800" dirty="0">
                          <a:latin typeface="T2 Rooftop" pitchFamily="2" charset="0"/>
                        </a:rPr>
                      </a:br>
                      <a:endParaRPr lang="ru-RU" sz="800" dirty="0">
                        <a:latin typeface="T2 Rooftop" pitchFamily="2" charset="0"/>
                      </a:endParaRPr>
                    </a:p>
                    <a:p>
                      <a:r>
                        <a:rPr lang="en-US" sz="800" dirty="0">
                          <a:latin typeface="T2 Rooftop" pitchFamily="2" charset="0"/>
                        </a:rPr>
                        <a:t>5. </a:t>
                      </a:r>
                      <a:r>
                        <a:rPr lang="ru-RU" sz="800" dirty="0">
                          <a:latin typeface="T2 Rooftop" pitchFamily="2" charset="0"/>
                        </a:rPr>
                        <a:t>Реализация уже готового функционала для увеличения возможностей в продукте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090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00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SMS-</a:t>
                      </a: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Таргет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Настройка </a:t>
                      </a:r>
                      <a:r>
                        <a:rPr lang="en-US" sz="1000" dirty="0">
                          <a:latin typeface="T2 Rooftop" pitchFamily="2" charset="0"/>
                        </a:rPr>
                        <a:t>performance-</a:t>
                      </a:r>
                      <a:r>
                        <a:rPr lang="ru-RU" sz="1000" dirty="0">
                          <a:latin typeface="T2 Rooftop" pitchFamily="2" charset="0"/>
                        </a:rPr>
                        <a:t>маркетинга</a:t>
                      </a:r>
                      <a:br>
                        <a:rPr lang="ru-RU" sz="1000" dirty="0">
                          <a:latin typeface="T2 Rooftop" pitchFamily="2" charset="0"/>
                        </a:rPr>
                      </a:br>
                      <a:r>
                        <a:rPr lang="ru-RU" sz="1000" dirty="0">
                          <a:latin typeface="T2 Rooftop" pitchFamily="2" charset="0"/>
                        </a:rPr>
                        <a:t>- Коллеги пришли с информацией о высокой стоимости привлечения лида (50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т.руб</a:t>
                      </a:r>
                      <a:r>
                        <a:rPr lang="ru-RU" sz="1000" dirty="0">
                          <a:latin typeface="T2 Rooftop" pitchFamily="2" charset="0"/>
                        </a:rPr>
                        <a:t>.), выручка в Таргете 400к за первое полугодие 26 года и +/- 2млн. за год</a:t>
                      </a:r>
                      <a:br>
                        <a:rPr lang="ru-RU" sz="1000" dirty="0">
                          <a:latin typeface="T2 Rooftop" pitchFamily="2" charset="0"/>
                        </a:rPr>
                      </a:br>
                      <a:r>
                        <a:rPr lang="ru-RU" sz="1000" dirty="0">
                          <a:latin typeface="T2 Rooftop" pitchFamily="2" charset="0"/>
                        </a:rPr>
                        <a:t>- Обсудили смену позиционирования и отстройку от конкурентов</a:t>
                      </a:r>
                      <a:br>
                        <a:rPr lang="ru-RU" sz="1000" dirty="0">
                          <a:latin typeface="T2 Rooftop" pitchFamily="2" charset="0"/>
                        </a:rPr>
                      </a:br>
                      <a:r>
                        <a:rPr lang="ru-RU" sz="1000" dirty="0">
                          <a:latin typeface="T2 Rooftop" pitchFamily="2" charset="0"/>
                        </a:rPr>
                        <a:t>- Получили тексты в интернет-продвижении, внесли правки и комментарии</a:t>
                      </a:r>
                      <a:br>
                        <a:rPr lang="ru-RU" sz="1000" dirty="0">
                          <a:latin typeface="T2 Rooftop" pitchFamily="2" charset="0"/>
                        </a:rPr>
                      </a:br>
                      <a:r>
                        <a:rPr lang="ru-RU" sz="1000" dirty="0">
                          <a:latin typeface="T2 Rooftop" pitchFamily="2" charset="0"/>
                        </a:rPr>
                        <a:t>- Договорились о тестировании нескольких гипотез (по текстам и по приземлению трафика в демо-кабинет, в который поставить счетчик Метрики и сделать разметку и настроить цели)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T2 Rooftop" pitchFamily="2" charset="0"/>
                        </a:rPr>
                        <a:t>В позиционировании отходим от акценте на СМС, если запрос на привлечение клиентов, фокус в продвижении на </a:t>
                      </a:r>
                      <a:r>
                        <a:rPr lang="en-US" sz="800" dirty="0">
                          <a:latin typeface="T2 Rooftop" pitchFamily="2" charset="0"/>
                        </a:rPr>
                        <a:t>SMS-</a:t>
                      </a:r>
                      <a:r>
                        <a:rPr lang="ru-RU" sz="800" dirty="0">
                          <a:latin typeface="T2 Rooftop" pitchFamily="2" charset="0"/>
                        </a:rPr>
                        <a:t>Таргете как инструменте решения бизнес-задач: поиск клиентов поблизости, эффективные инвестиции в рекламу</a:t>
                      </a:r>
                    </a:p>
                    <a:p>
                      <a:r>
                        <a:rPr lang="ru-RU" sz="800" dirty="0">
                          <a:latin typeface="T2 Rooftop" pitchFamily="2" charset="0"/>
                        </a:rPr>
                        <a:t>Планируем прийти к формату где Т2 Таргет платформа эффективной рекламы в разных форматах с прозрачным результатом, где базовая коммуникация идет через </a:t>
                      </a:r>
                      <a:r>
                        <a:rPr lang="en-US" sz="800" dirty="0">
                          <a:latin typeface="T2 Rooftop" pitchFamily="2" charset="0"/>
                        </a:rPr>
                        <a:t>SMS.</a:t>
                      </a:r>
                    </a:p>
                    <a:p>
                      <a:endParaRPr lang="en-US" sz="800" dirty="0">
                        <a:latin typeface="T2 Rooftop" pitchFamily="2" charset="0"/>
                      </a:endParaRPr>
                    </a:p>
                    <a:p>
                      <a:r>
                        <a:rPr lang="ru-RU" sz="800" dirty="0">
                          <a:latin typeface="T2 Rooftop" pitchFamily="2" charset="0"/>
                        </a:rPr>
                        <a:t>Поработали с текстами и гипотезами по продвижению, будем смотреть на результат для снижения </a:t>
                      </a:r>
                      <a:r>
                        <a:rPr lang="en-US" sz="800" dirty="0">
                          <a:latin typeface="T2 Rooftop" pitchFamily="2" charset="0"/>
                        </a:rPr>
                        <a:t>CAC </a:t>
                      </a: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453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Сформировали приоритеты по партнерским интеграциям (2ГИС, </a:t>
                      </a:r>
                      <a:r>
                        <a:rPr lang="en-US" sz="1000" dirty="0">
                          <a:latin typeface="T2 Rooftop" pitchFamily="2" charset="0"/>
                        </a:rPr>
                        <a:t>YABBI, RUSS Outdoor, VK </a:t>
                      </a:r>
                      <a:r>
                        <a:rPr lang="ru-RU" sz="1000" dirty="0">
                          <a:latin typeface="T2 Rooftop" pitchFamily="2" charset="0"/>
                        </a:rPr>
                        <a:t>Реклама), определили концепт решений в кабинете Таргета. Выходим на переговоры с 2ГИС.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Для расширения инвентаря и отстройки от конкурентов. Цель - превратить Таргет в рекламную платформу для </a:t>
                      </a:r>
                      <a:r>
                        <a:rPr lang="en-US" sz="800" dirty="0">
                          <a:latin typeface="T2 Rooftop" pitchFamily="2" charset="0"/>
                        </a:rPr>
                        <a:t>B2B </a:t>
                      </a:r>
                      <a:r>
                        <a:rPr lang="ru-RU" sz="800" dirty="0">
                          <a:latin typeface="T2 Rooftop" pitchFamily="2" charset="0"/>
                        </a:rPr>
                        <a:t>с закрытием основной клиентской задачи (привлечение клиентов в локальный бизнес)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63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594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A9CF-5465-C0C3-29F3-27F4BD60D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0337B0D-3B21-6892-E548-9B7D1505C28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F76BB2C-0268-972C-9DE5-4DE5D1E203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698C29-2B05-4491-B1F1-D1FE1BD0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134471"/>
            <a:ext cx="10515600" cy="555531"/>
          </a:xfrm>
        </p:spPr>
        <p:txBody>
          <a:bodyPr vert="horz" rIns="91440">
            <a:normAutofit/>
          </a:bodyPr>
          <a:lstStyle/>
          <a:p>
            <a:r>
              <a:rPr lang="ru-RU" sz="3200" dirty="0">
                <a:latin typeface="T2 Halvar Breit ExtraBold" pitchFamily="2" charset="0"/>
              </a:rPr>
              <a:t>Продуктовый офис: </a:t>
            </a:r>
            <a:r>
              <a:rPr lang="en-US" sz="3200" dirty="0">
                <a:latin typeface="T2 Halvar Breit ExtraBold" pitchFamily="2" charset="0"/>
              </a:rPr>
              <a:t>VOICE</a:t>
            </a:r>
            <a:endParaRPr lang="ru-RU" sz="3200" dirty="0">
              <a:latin typeface="T2 Halvar Breit ExtraBold" pitchFamily="2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4D3BCABE-4D71-89E7-6987-95886ACA9C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03526"/>
              </p:ext>
            </p:extLst>
          </p:nvPr>
        </p:nvGraphicFramePr>
        <p:xfrm>
          <a:off x="694764" y="690002"/>
          <a:ext cx="11031071" cy="600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6812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983037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5283293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3827929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2 Rooftop" pitchFamily="2" charset="0"/>
                        </a:rPr>
                        <a:t>12.05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Марк./МАВ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Создание на </a:t>
                      </a:r>
                      <a:r>
                        <a:rPr lang="en-US" sz="1000" dirty="0">
                          <a:latin typeface="T2 Rooftop" pitchFamily="2" charset="0"/>
                        </a:rPr>
                        <a:t>Wiki </a:t>
                      </a:r>
                      <a:r>
                        <a:rPr lang="ru-RU" sz="1000" dirty="0">
                          <a:latin typeface="T2 Rooftop" pitchFamily="2" charset="0"/>
                        </a:rPr>
                        <a:t>реестра клиентов/подрядчиков, которым необходимо ежемесячно обнулять плату за МАВ/Маркировку</a:t>
                      </a:r>
                      <a:r>
                        <a:rPr lang="en-US" sz="1000" dirty="0">
                          <a:latin typeface="T2 Rooftop" pitchFamily="2" charset="0"/>
                        </a:rPr>
                        <a:t>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T2 Rooftop" pitchFamily="2" charset="0"/>
                        </a:rPr>
                        <a:t>Ждем информацию от коллег из </a:t>
                      </a:r>
                      <a:r>
                        <a:rPr lang="en-US" sz="800" dirty="0">
                          <a:latin typeface="T2 Rooftop" pitchFamily="2" charset="0"/>
                        </a:rPr>
                        <a:t>CBM</a:t>
                      </a:r>
                      <a:r>
                        <a:rPr lang="ru-RU" sz="800" dirty="0">
                          <a:latin typeface="T2 Rooftop" pitchFamily="2" charset="0"/>
                        </a:rPr>
                        <a:t>, так как у одного ИНН есть часть трафика за всю стоимость и часть для обнуления, должны вернуться и сообщить конкретные ЛС.</a:t>
                      </a:r>
                      <a:r>
                        <a:rPr lang="en-US" sz="800" dirty="0">
                          <a:latin typeface="T2 Rooftop" pitchFamily="2" charset="0"/>
                        </a:rPr>
                        <a:t> </a:t>
                      </a: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0901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конец июня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Марк./МАВ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Удаление Маркировки из ПМ "Мой </a:t>
                      </a:r>
                      <a:r>
                        <a:rPr lang="en-US" sz="1000" dirty="0">
                          <a:latin typeface="T2 Rooftop" pitchFamily="2" charset="0"/>
                        </a:rPr>
                        <a:t>t2”,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возможно некорректное отображение маркировки</a:t>
                      </a:r>
                      <a:r>
                        <a:rPr lang="en-US" sz="1000" dirty="0">
                          <a:latin typeface="T2 Rooftop" pitchFamily="2" charset="0"/>
                        </a:rPr>
                        <a:t>.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Задача с низким приоритетом у В2С - не выделены ресурсы для удаления маркировки из МП – Необходима встреча со стороны В2В Продукта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Задача на удаление у </a:t>
                      </a:r>
                      <a:r>
                        <a:rPr lang="en-US" sz="800" dirty="0">
                          <a:latin typeface="T2 Rooftop" pitchFamily="2" charset="0"/>
                        </a:rPr>
                        <a:t>B2C (</a:t>
                      </a:r>
                      <a:r>
                        <a:rPr lang="ru-RU" sz="800" dirty="0">
                          <a:latin typeface="T2 Rooftop" pitchFamily="2" charset="0"/>
                        </a:rPr>
                        <a:t>отв. Малаева Ю.)</a:t>
                      </a:r>
                      <a:r>
                        <a:rPr lang="en-US" sz="800" dirty="0">
                          <a:latin typeface="T2 Rooftop" pitchFamily="2" charset="0"/>
                        </a:rPr>
                        <a:t>. </a:t>
                      </a:r>
                      <a:endParaRPr lang="ru-RU" sz="800" dirty="0">
                        <a:highlight>
                          <a:srgbClr val="FFFF00"/>
                        </a:highlight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8146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latin typeface="T2 Rooftop" pitchFamily="2" charset="0"/>
                        </a:rPr>
                        <a:t>конец мая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Марк./МАВ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Отделить счета на МАВ и Маркировку у топ клиентов - В процессе согласования с ЮД и продажами.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Менеджеры </a:t>
                      </a:r>
                      <a:r>
                        <a:rPr lang="en-US" sz="1000" dirty="0">
                          <a:latin typeface="T2 Rooftop" pitchFamily="2" charset="0"/>
                        </a:rPr>
                        <a:t>FA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подписывают с клиентами ДС на выделение номеров, которые будут на отдельных ЛС - для МАВ и Маркировки, куда будут выставляться счета по указанным услугам отдельно от счетов за трафик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1825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latin typeface="T2 Rooftop" pitchFamily="2" charset="0"/>
                        </a:rPr>
                        <a:t>конец мая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Марк./МАВ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Удалить ранее загруженный М2М в БД других операторов - Проанализировать  вариации тарификации - как КСС или поштучно или удалить.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3639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latin typeface="T2 Rooftop" pitchFamily="2" charset="0"/>
                        </a:rPr>
                        <a:t>конец мая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Марк./МАВ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Номера от Big</a:t>
                      </a:r>
                      <a:r>
                        <a:rPr lang="en-US" sz="1000" dirty="0">
                          <a:latin typeface="T2 Rooftop" pitchFamily="2" charset="0"/>
                        </a:rPr>
                        <a:t>3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и не МАВ и не КСС</a:t>
                      </a:r>
                      <a:r>
                        <a:rPr lang="en-US" sz="1000" dirty="0">
                          <a:latin typeface="T2 Rooftop" pitchFamily="2" charset="0"/>
                        </a:rPr>
                        <a:t> -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Проанализировать трафик попыток с номеров не МАВ и не КСС Необходимо понять тарифицируем в июне эти попытки или ждем изменений от операторов</a:t>
                      </a:r>
                      <a:endParaRPr lang="ru-RU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3666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latin typeface="T2 Rooftop" pitchFamily="2" charset="0"/>
                        </a:rPr>
                        <a:t>июнь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Марк./МАВ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Поэтапное включение ограничений для снижения дозваниваемости с фиксированных операторов без маркировки - С июня начать поэтапную блокировку сторонних операторов - На этой неделе список будет направлен в РТК для синхронизации работы с такими клиентами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T2 Rooftop" pitchFamily="2" charset="0"/>
                        </a:rPr>
                        <a:t>Варианты реализации направлены А. </a:t>
                      </a:r>
                      <a:r>
                        <a:rPr lang="ru-RU" sz="800" dirty="0" err="1">
                          <a:latin typeface="T2 Rooftop" pitchFamily="2" charset="0"/>
                        </a:rPr>
                        <a:t>Балмашеву</a:t>
                      </a:r>
                      <a:r>
                        <a:rPr lang="ru-RU" sz="800" dirty="0">
                          <a:latin typeface="T2 Rooftop" pitchFamily="2" charset="0"/>
                        </a:rPr>
                        <a:t> и С. Балковому</a:t>
                      </a:r>
                    </a:p>
                    <a:p>
                      <a:r>
                        <a:rPr lang="ru-RU" sz="800" dirty="0">
                          <a:latin typeface="T2 Rooftop" pitchFamily="2" charset="0"/>
                        </a:rPr>
                        <a:t>Убираем Башинформсвязь, </a:t>
                      </a:r>
                      <a:r>
                        <a:rPr lang="ru-RU" sz="800" dirty="0" err="1">
                          <a:latin typeface="T2 Rooftop" pitchFamily="2" charset="0"/>
                        </a:rPr>
                        <a:t>Макомнет</a:t>
                      </a:r>
                      <a:r>
                        <a:rPr lang="ru-RU" sz="800" dirty="0">
                          <a:latin typeface="T2 Rooftop" pitchFamily="2" charset="0"/>
                        </a:rPr>
                        <a:t> и еще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3169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latin typeface="T2 Rooftop" pitchFamily="2" charset="0"/>
                        </a:rPr>
                        <a:t>01.06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Марк./МАВ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РТК </a:t>
                      </a:r>
                      <a:r>
                        <a:rPr lang="en-US" sz="1000" dirty="0">
                          <a:latin typeface="T2 Rooftop" pitchFamily="2" charset="0"/>
                        </a:rPr>
                        <a:t>Hub –</a:t>
                      </a:r>
                      <a:r>
                        <a:rPr lang="ru-RU" sz="1000" dirty="0">
                          <a:latin typeface="T2 Rooftop" pitchFamily="2" charset="0"/>
                        </a:rPr>
                        <a:t> РТК вернули договор с правками, передан наших юристам для согласования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59286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Марк./МАВ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Исправление остаточных ошибок после миграции на межоператорский </a:t>
                      </a:r>
                      <a:r>
                        <a:rPr lang="en-US" sz="1000" dirty="0">
                          <a:latin typeface="T2 Rooftop" pitchFamily="2" charset="0"/>
                        </a:rPr>
                        <a:t>API</a:t>
                      </a:r>
                      <a:r>
                        <a:rPr lang="ru-RU" sz="1000" dirty="0">
                          <a:latin typeface="T2 Rooftop" pitchFamily="2" charset="0"/>
                        </a:rPr>
                        <a:t> - Операторы очень медленно реагируют на обращения</a:t>
                      </a:r>
                      <a:r>
                        <a:rPr lang="en-US" sz="1000" dirty="0">
                          <a:latin typeface="T2 Rooftop" pitchFamily="2" charset="0"/>
                        </a:rPr>
                        <a:t>.</a:t>
                      </a:r>
                      <a:r>
                        <a:rPr lang="ru-RU" sz="1000" dirty="0">
                          <a:latin typeface="T2 Rooftop" pitchFamily="2" charset="0"/>
                        </a:rPr>
                        <a:t> На текущий момент ни один из операторов не почистил ранее отправленные в них примеры проблемы.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63421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Марк./МАВ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Счета за май - данные направлены в сторону операторов. Пока только МТТ согласовал цифры.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4410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latin typeface="T2 Rooftop" pitchFamily="2" charset="0"/>
                        </a:rPr>
                        <a:t>01.06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Марк./МАВ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Переход на новую витрину для взаиморасчетов с операторами </a:t>
                      </a:r>
                      <a:r>
                        <a:rPr lang="ru-RU" sz="1000" dirty="0">
                          <a:latin typeface="T2 Rooftop" pitchFamily="2" charset="0"/>
                        </a:rPr>
                        <a:t>- Изменения в витрины согласно наших комментариев внесены, выявлены расхождения в расчетах, в работе у исполнителей (Булгуров Хачатур)</a:t>
                      </a:r>
                      <a:endParaRPr lang="ru-RU" sz="1000" dirty="0">
                        <a:highlight>
                          <a:srgbClr val="FFFF00"/>
                        </a:highlight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T2 Rooftop" pitchFamily="2" charset="0"/>
                        </a:rPr>
                        <a:t>Сможем использовать витрину при выставлении счетов за июнь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713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8401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3D8BE-5DEA-05B5-E932-50BFAEFA5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773550C-5F2B-E210-D094-CB3456F56A7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337B0D-3B21-6892-E548-9B7D1505C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87E49-CB87-32AA-19FF-D2C847DB4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134471"/>
            <a:ext cx="10515600" cy="555531"/>
          </a:xfrm>
        </p:spPr>
        <p:txBody>
          <a:bodyPr vert="horz" rIns="91440">
            <a:normAutofit/>
          </a:bodyPr>
          <a:lstStyle/>
          <a:p>
            <a:r>
              <a:rPr lang="ru-RU" sz="3200" dirty="0">
                <a:latin typeface="T2 Halvar Breit ExtraBold" pitchFamily="2" charset="0"/>
              </a:rPr>
              <a:t>Продуктовый офис: </a:t>
            </a:r>
            <a:r>
              <a:rPr lang="en-US" sz="3200" dirty="0">
                <a:latin typeface="T2 Halvar Breit ExtraBold" pitchFamily="2" charset="0"/>
              </a:rPr>
              <a:t>VOICE</a:t>
            </a:r>
            <a:endParaRPr lang="ru-RU" sz="3200" dirty="0">
              <a:latin typeface="T2 Halvar Breit ExtraBold" pitchFamily="2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58B46C2D-79A4-FBB0-6329-9DB444904C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142959"/>
              </p:ext>
            </p:extLst>
          </p:nvPr>
        </p:nvGraphicFramePr>
        <p:xfrm>
          <a:off x="730624" y="690002"/>
          <a:ext cx="11031071" cy="583407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6812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029582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5236748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3827929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70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Q2-Q3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Марк./МАВ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Автоматизация процесса сборки маркировки -Выделены ответственные со стороны ЦК РАП (Team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A</a:t>
                      </a:r>
                      <a:r>
                        <a:rPr lang="ru-RU" sz="1000" dirty="0">
                          <a:latin typeface="T2 Rooftop" pitchFamily="2" charset="0"/>
                        </a:rPr>
                        <a:t>, Булгуров Хачатур - аналитик). Коллеги готовят описание реализации для внутренней команды разработки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23508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>
                          <a:latin typeface="T2 Rooftop" pitchFamily="2" charset="0"/>
                        </a:rPr>
                        <a:t>Марк./МАВ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latin typeface="T2 Rooftop" pitchFamily="2" charset="0"/>
                        </a:rPr>
                        <a:t>Разработка API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для подключения операторов не из Big 3 - Ждем доработку поля INTERNAL_MNEMO и будет обновление АПИ на сайте для использования операторами не Big3 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T2 Rooftop" pitchFamily="2" charset="0"/>
                        </a:rPr>
                        <a:t>- Заявку для изменения на сайте разместим на этой неделе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81463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Марк./МАВ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Подготовка БФТ для межоператорского АПИ фаза 2 - на стадии согласования с операторами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8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97442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ВАТС (WL Манго)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о-брендинговый бандл "ВАТС МТ + КСС </a:t>
                      </a:r>
                      <a:r>
                        <a:rPr lang="en-US" sz="1000" dirty="0">
                          <a:latin typeface="T2 Rooftop" pitchFamily="2" charset="0"/>
                        </a:rPr>
                        <a:t>t2”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2 Rooftop" pitchFamily="2" charset="0"/>
                        </a:rPr>
                        <a:t>1. </a:t>
                      </a:r>
                      <a:r>
                        <a:rPr lang="ru-RU" sz="1000" dirty="0">
                          <a:latin typeface="T2 Rooftop" pitchFamily="2" charset="0"/>
                        </a:rPr>
                        <a:t>ЮД согласовал схему "технологический стык". Оценок рисков ни по 1 из 4 предоставлено не было.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2. Бизнес-Взаимодействие (БВ). Отрисованы схемы по 18</a:t>
                      </a:r>
                      <a:r>
                        <a:rPr lang="en-US" sz="1000" dirty="0">
                          <a:latin typeface="T2 Rooftop" pitchFamily="2" charset="0"/>
                        </a:rPr>
                        <a:t>UCs (</a:t>
                      </a:r>
                      <a:r>
                        <a:rPr lang="ru-RU" sz="1000" dirty="0">
                          <a:latin typeface="T2 Rooftop" pitchFamily="2" charset="0"/>
                        </a:rPr>
                        <a:t>в 2 вариантах). С Манго повторно обсудили 02.06 БВ в парадигме </a:t>
                      </a:r>
                      <a:r>
                        <a:rPr lang="en-US" sz="1000" dirty="0">
                          <a:latin typeface="T2 Rooftop" pitchFamily="2" charset="0"/>
                        </a:rPr>
                        <a:t>UCs (</a:t>
                      </a:r>
                      <a:r>
                        <a:rPr lang="ru-RU" sz="1000" dirty="0">
                          <a:latin typeface="T2 Rooftop" pitchFamily="2" charset="0"/>
                        </a:rPr>
                        <a:t>вариант "БВ через </a:t>
                      </a:r>
                      <a:r>
                        <a:rPr lang="en-US" sz="1000" dirty="0">
                          <a:latin typeface="T2 Rooftop" pitchFamily="2" charset="0"/>
                        </a:rPr>
                        <a:t>e-mail"). </a:t>
                      </a:r>
                      <a:endParaRPr lang="ru-RU" sz="1000" dirty="0">
                        <a:latin typeface="T2 Rooftop" pitchFamily="2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3. Звонковая Часть (ЗЧ). 03.06 обсудили с Манго наше предложение по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стейджированию</a:t>
                      </a:r>
                      <a:r>
                        <a:rPr lang="ru-RU" sz="1000" dirty="0">
                          <a:latin typeface="T2 Rooftop" pitchFamily="2" charset="0"/>
                        </a:rPr>
                        <a:t> звонковых </a:t>
                      </a:r>
                      <a:r>
                        <a:rPr lang="en-US" sz="1000" dirty="0">
                          <a:latin typeface="T2 Rooftop" pitchFamily="2" charset="0"/>
                        </a:rPr>
                        <a:t>UCs (</a:t>
                      </a:r>
                      <a:r>
                        <a:rPr lang="ru-RU" sz="1000" dirty="0">
                          <a:latin typeface="T2 Rooftop" pitchFamily="2" charset="0"/>
                        </a:rPr>
                        <a:t>стало 9/6 к тестам + обозначены проблемы статистики на стороне ЛК Манго). Ожидаем уточнения по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тех.реализации</a:t>
                      </a:r>
                      <a:r>
                        <a:rPr lang="ru-RU" sz="1000" dirty="0">
                          <a:latin typeface="T2 Rooftop" pitchFamily="2" charset="0"/>
                        </a:rPr>
                        <a:t> со стороны Манго (кол-во транков для каждого стыка, параметры для обеспечения маршрутизации вызовов и т.п.), а также - по срокам доработки ВАТС Манго и тестирования. Идёт сбор стыка по "старому дизайну" (1 транк).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Далее - необходим ресурс ЕЦТ и тестовые симки.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effectLst/>
                        </a:rPr>
                        <a:t>1. Ожидаем: 04.06 - клиентский договор; 10.06 - лицензионный и агентский.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effectLst/>
                        </a:rPr>
                        <a:t>Далее - ИБ (Новосёлов).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effectLst/>
                        </a:rPr>
                        <a:t>2. Ожидаем </a:t>
                      </a:r>
                      <a:r>
                        <a:rPr lang="ru-RU" sz="800" dirty="0" err="1">
                          <a:effectLst/>
                        </a:rPr>
                        <a:t>доп.инфо</a:t>
                      </a:r>
                      <a:r>
                        <a:rPr lang="ru-RU" sz="800" dirty="0">
                          <a:effectLst/>
                        </a:rPr>
                        <a:t> по </a:t>
                      </a:r>
                      <a:r>
                        <a:rPr lang="en-US" sz="800" dirty="0">
                          <a:effectLst/>
                        </a:rPr>
                        <a:t>UCs (</a:t>
                      </a:r>
                      <a:r>
                        <a:rPr lang="ru-RU" sz="800" dirty="0">
                          <a:effectLst/>
                        </a:rPr>
                        <a:t>для ЛКП) и подтверждение по ключевым вопросам БВ (</a:t>
                      </a:r>
                      <a:r>
                        <a:rPr lang="ru-RU" sz="800" dirty="0" err="1">
                          <a:effectLst/>
                        </a:rPr>
                        <a:t>МоМ</a:t>
                      </a:r>
                      <a:r>
                        <a:rPr lang="ru-RU" sz="800" dirty="0">
                          <a:effectLst/>
                        </a:rPr>
                        <a:t> от 02.06).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8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85786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Рекламный номер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Обогащение сервера Интек 3 параметрами о вызовах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ЕА подготовил описание 2 вар. реализации: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1. Маршрутизация звонка через </a:t>
                      </a:r>
                      <a:r>
                        <a:rPr lang="en-US" sz="1000" dirty="0">
                          <a:latin typeface="T2 Rooftop" pitchFamily="2" charset="0"/>
                        </a:rPr>
                        <a:t>CHR </a:t>
                      </a:r>
                      <a:r>
                        <a:rPr lang="ru-RU" sz="1000" dirty="0">
                          <a:latin typeface="T2 Rooftop" pitchFamily="2" charset="0"/>
                        </a:rPr>
                        <a:t>с получением результата завершения звонка сразу по его завершении. (скорость получения инф-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ции</a:t>
                      </a:r>
                      <a:r>
                        <a:rPr lang="ru-RU" sz="1000" dirty="0">
                          <a:latin typeface="T2 Rooftop" pitchFamily="2" charset="0"/>
                        </a:rPr>
                        <a:t> ~секунды)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2. Получение информации о звонке из </a:t>
                      </a:r>
                      <a:r>
                        <a:rPr lang="en-US" sz="1000" dirty="0">
                          <a:latin typeface="T2 Rooftop" pitchFamily="2" charset="0"/>
                        </a:rPr>
                        <a:t>CDR </a:t>
                      </a:r>
                      <a:r>
                        <a:rPr lang="ru-RU" sz="1000" dirty="0">
                          <a:latin typeface="T2 Rooftop" pitchFamily="2" charset="0"/>
                        </a:rPr>
                        <a:t>с последующей передачей необходимых данных. (скорость получения информации ~десятки минут)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err="1">
                          <a:latin typeface="T2 Rooftop" pitchFamily="2" charset="0"/>
                        </a:rPr>
                        <a:t>Поджекту</a:t>
                      </a:r>
                      <a:r>
                        <a:rPr lang="ru-RU" sz="1000" dirty="0">
                          <a:latin typeface="T2 Rooftop" pitchFamily="2" charset="0"/>
                        </a:rPr>
                        <a:t> поставлены задачи: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1. Получить ответы на уточняющие вопросы ЕА по реализуемости вариантов со стороны Беркута (Ю. Селютин) по вар.1 и от А.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Дженибалаева</a:t>
                      </a:r>
                      <a:r>
                        <a:rPr lang="ru-RU" sz="1000" dirty="0">
                          <a:latin typeface="T2 Rooftop" pitchFamily="2" charset="0"/>
                        </a:rPr>
                        <a:t> (вар. 2).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2. Получить оценки сроков по вариантам.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effectLst/>
                        </a:rPr>
                        <a:t>Обогащение сервера Интек с информацией о состоянии вызова причина завершения, факт переадресации, причина переадресации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028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8361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6012D-0AA5-588A-E2F5-33897AA4D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94DD0F6-34E9-C2E8-12AB-C13E0D69290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73550C-5F2B-E210-D094-CB3456F56A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3743E-AF24-22B4-88E3-ADADC4B64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134471"/>
            <a:ext cx="10515600" cy="555531"/>
          </a:xfrm>
        </p:spPr>
        <p:txBody>
          <a:bodyPr vert="horz" rIns="91440">
            <a:normAutofit/>
          </a:bodyPr>
          <a:lstStyle/>
          <a:p>
            <a:r>
              <a:rPr lang="ru-RU" sz="3200" dirty="0">
                <a:latin typeface="T2 Halvar Breit ExtraBold" pitchFamily="2" charset="0"/>
              </a:rPr>
              <a:t>Продуктовый офис: </a:t>
            </a:r>
            <a:r>
              <a:rPr lang="en-US" sz="3200" dirty="0">
                <a:latin typeface="T2 Halvar Breit ExtraBold" pitchFamily="2" charset="0"/>
              </a:rPr>
              <a:t>VOICE</a:t>
            </a:r>
            <a:endParaRPr lang="ru-RU" sz="3200" dirty="0">
              <a:latin typeface="T2 Halvar Breit ExtraBold" pitchFamily="2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4579BF55-F5AE-4A56-9FA2-2CB6FA631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1971"/>
              </p:ext>
            </p:extLst>
          </p:nvPr>
        </p:nvGraphicFramePr>
        <p:xfrm>
          <a:off x="730624" y="690002"/>
          <a:ext cx="11031071" cy="55587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6812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029582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5236748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3827929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Рекламный номер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Аудит продукта.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Получено от Вендора видение БП взаимодействия в автоматическом режиме создания клиентов + готовность поддержать "ручной" БП на период разработки автоматизации. От нас вендор ждёт видения упрощения Описания </a:t>
                      </a:r>
                      <a:r>
                        <a:rPr lang="en-US" sz="1000" dirty="0">
                          <a:latin typeface="T2 Rooftop" pitchFamily="2" charset="0"/>
                        </a:rPr>
                        <a:t>API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для </a:t>
                      </a:r>
                      <a:r>
                        <a:rPr lang="en-US" sz="1000" dirty="0">
                          <a:latin typeface="T2 Rooftop" pitchFamily="2" charset="0"/>
                        </a:rPr>
                        <a:t>SME.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800">
                          <a:latin typeface="T2 Rooftop" pitchFamily="2" charset="0"/>
                        </a:rPr>
                        <a:t>Разработка и актуализация артефактов (БП, Описание </a:t>
                      </a:r>
                      <a:r>
                        <a:rPr lang="en-US" sz="800">
                          <a:latin typeface="T2 Rooftop" pitchFamily="2" charset="0"/>
                        </a:rPr>
                        <a:t>API, POSM, etc.)</a:t>
                      </a: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54123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>
                          <a:latin typeface="T2 Rooftop" pitchFamily="2" charset="0"/>
                        </a:rPr>
                        <a:t>Мобильная карусель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Управления настройками ротации номеров из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BackOffice</a:t>
                      </a:r>
                      <a:r>
                        <a:rPr lang="ru-RU" sz="1000" dirty="0">
                          <a:latin typeface="T2 Rooftop" pitchFamily="2" charset="0"/>
                        </a:rPr>
                        <a:t> сотрудника t2 – Обнаружена новая проблема, логи переданы для анализа в Беркут.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40361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rtl="0"/>
                      <a:endParaRPr lang="ru-RU" sz="1000" kern="1200" dirty="0">
                        <a:solidFill>
                          <a:schemeClr val="dk1"/>
                        </a:solidFill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Voice Target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Анализ дизайна Web-Интерфейса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rtl="0"/>
                      <a:endParaRPr lang="ru-RU" sz="1000" kern="1200" dirty="0">
                        <a:solidFill>
                          <a:schemeClr val="dk1"/>
                        </a:solidFill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53298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>
                          <a:latin typeface="T2 Rooftop" pitchFamily="2" charset="0"/>
                        </a:rPr>
                        <a:t>КАТС SORM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Развертывание песочницы СОРМ. </a:t>
                      </a: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Проведена встреча с Вендором и Владельцем продукта КАТС, а также - с функцией СОРМ. На встрече зафиксировали, что тестовую зону делаем минимум для 2-х вендоров СОРМ и определили план дальнейших действий.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800" dirty="0">
                          <a:latin typeface="T2 Rooftop" pitchFamily="2" charset="0"/>
                        </a:rPr>
                        <a:t>Подготовка СОРМ к сдаче по новой нормативной базе.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Получены требования по оборудованию от Интек. После выхода из отпуска Лебедева передам информацию и назначим звонок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47686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rtl="0"/>
                      <a:r>
                        <a:rPr lang="ru-RU" sz="1000" dirty="0">
                          <a:latin typeface="T2 Rooftop" pitchFamily="2" charset="0"/>
                        </a:rPr>
                        <a:t>конец мая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КАТС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Перенос решения в защищенную зону (DMZ) t2 - в связи с мораторием и задержками со стороны ИБ срок сдвинулся. на данный момент завершается этап переноса веба 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06596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КАТС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Возвращение к безусловной транскрибации вызовов - точная дата будет известна после завершения переезда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76567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rtl="0"/>
                      <a:r>
                        <a:rPr lang="ru-RU" sz="1000" dirty="0">
                          <a:latin typeface="T2 Rooftop" pitchFamily="2" charset="0"/>
                        </a:rPr>
                        <a:t>июль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КАТС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Календарь рабочего времени – тестирование на стороне t2 с июня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Возможность добавлять собственные календари, устанавливать на каждый отдел отдельное расписание, добавлять перерывы и настраивать сложные сценарии рабочего времени. подготовка тестирования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59286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КАТС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Запуск модуля "Автодозвон" в рамках продукта КАТС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Срок создания услуги не ранее 15 июня. (месяц) статус от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интек</a:t>
                      </a:r>
                      <a:r>
                        <a:rPr lang="ru-RU" sz="1000" dirty="0">
                          <a:latin typeface="T2 Rooftop" pitchFamily="2" charset="0"/>
                        </a:rPr>
                        <a:t> направят до конца недели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модуль </a:t>
                      </a:r>
                      <a:r>
                        <a:rPr lang="ru-RU" sz="800" dirty="0" err="1">
                          <a:latin typeface="T2 Rooftop" pitchFamily="2" charset="0"/>
                        </a:rPr>
                        <a:t>автобзвона</a:t>
                      </a:r>
                      <a:r>
                        <a:rPr lang="ru-RU" sz="800" dirty="0">
                          <a:latin typeface="T2 Rooftop" pitchFamily="2" charset="0"/>
                        </a:rPr>
                        <a:t> в АТС. С персональным информированием/уведомлением.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63421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Перс.запись разговора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Запуск ПЗР как отдельного продукта для самозанятых/F&amp;F/Агентов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Срок создания услуги не ранее 15 июня. (месяц) статус от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интек</a:t>
                      </a:r>
                      <a:r>
                        <a:rPr lang="ru-RU" sz="1000" dirty="0">
                          <a:latin typeface="T2 Rooftop" pitchFamily="2" charset="0"/>
                        </a:rPr>
                        <a:t> направят до конца недели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800" dirty="0">
                          <a:latin typeface="T2 Rooftop" pitchFamily="2" charset="0"/>
                        </a:rPr>
                        <a:t>запись разговоров для самозанятых/БО/ и агентов. отдельная услуга записи разговоров на 1 номер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44104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Контур Фокус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Разработка </a:t>
                      </a:r>
                      <a:r>
                        <a:rPr lang="en-US" sz="1000" dirty="0">
                          <a:latin typeface="T2 Rooftop" pitchFamily="2" charset="0"/>
                        </a:rPr>
                        <a:t>CRM/</a:t>
                      </a:r>
                      <a:r>
                        <a:rPr lang="ru-RU" sz="1000" dirty="0">
                          <a:latin typeface="T2 Rooftop" pitchFamily="2" charset="0"/>
                        </a:rPr>
                        <a:t>коннектор для Контур. Подключение партнеров Контур к т2+КАТС.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Ожидаем ТЗ от Контур в начале июня, после чего сможем проанализировать сроки и приступить к работе.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800" dirty="0">
                          <a:latin typeface="T2 Rooftop" pitchFamily="2" charset="0"/>
                        </a:rPr>
                        <a:t>не публичный С</a:t>
                      </a:r>
                      <a:r>
                        <a:rPr lang="en-US" sz="800" dirty="0">
                          <a:latin typeface="T2 Rooftop" pitchFamily="2" charset="0"/>
                        </a:rPr>
                        <a:t>R</a:t>
                      </a:r>
                      <a:r>
                        <a:rPr lang="ru-RU" sz="800" dirty="0">
                          <a:latin typeface="T2 Rooftop" pitchFamily="2" charset="0"/>
                        </a:rPr>
                        <a:t>М, он исключительно для партнеров</a:t>
                      </a:r>
                      <a:r>
                        <a:rPr lang="en-US" sz="800" dirty="0">
                          <a:latin typeface="T2 Rooftop" pitchFamily="2" charset="0"/>
                        </a:rPr>
                        <a:t> </a:t>
                      </a:r>
                      <a:r>
                        <a:rPr lang="en-US" sz="800" dirty="0" err="1">
                          <a:latin typeface="T2 Rooftop" pitchFamily="2" charset="0"/>
                        </a:rPr>
                        <a:t>Кон</a:t>
                      </a:r>
                      <a:r>
                        <a:rPr lang="ru-RU" sz="800" dirty="0">
                          <a:latin typeface="T2 Rooftop" pitchFamily="2" charset="0"/>
                        </a:rPr>
                        <a:t>тура, по всей России порядка двух тысяч партнеров. Будем подключать по стандартной схеме, то есть это договор на голосовую связь плюс АТС, в зависимости от количества сотрудников.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489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169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F0584-8433-CCFE-8200-9411C7B4D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20BE547-4DFF-3C6C-EABB-597EC250104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36B9DB-118F-7FEB-4F4E-8A2F13FA5D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69DE5D-9FC5-FCD2-D1EF-F7A1E5C25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134471"/>
            <a:ext cx="10515600" cy="555531"/>
          </a:xfrm>
        </p:spPr>
        <p:txBody>
          <a:bodyPr vert="horz" rIns="91440">
            <a:normAutofit/>
          </a:bodyPr>
          <a:lstStyle/>
          <a:p>
            <a:r>
              <a:rPr lang="ru-RU" sz="3200" dirty="0">
                <a:latin typeface="T2 Halvar Breit ExtraBold" pitchFamily="2" charset="0"/>
              </a:rPr>
              <a:t>Продуктовый офис: </a:t>
            </a:r>
            <a:r>
              <a:rPr lang="en-US" sz="3200" dirty="0">
                <a:latin typeface="T2 Halvar Breit ExtraBold" pitchFamily="2" charset="0"/>
              </a:rPr>
              <a:t>M2M / IoT</a:t>
            </a:r>
            <a:endParaRPr lang="ru-RU" sz="3200" dirty="0">
              <a:latin typeface="T2 Halvar Breit ExtraBold" pitchFamily="2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BF4AC4D6-C567-F1D2-5184-274BA6268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971846"/>
              </p:ext>
            </p:extLst>
          </p:nvPr>
        </p:nvGraphicFramePr>
        <p:xfrm>
          <a:off x="694764" y="943783"/>
          <a:ext cx="11031071" cy="57721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6812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344706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5997389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2752164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000">
                          <a:latin typeface="T2 Rooftop" pitchFamily="2" charset="0"/>
                        </a:rPr>
                        <a:t>Миграция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noProof="1">
                          <a:latin typeface="T2 Rooftop" pitchFamily="2" charset="0"/>
                        </a:rPr>
                        <a:t>Миграция клиентов РТК</a:t>
                      </a:r>
                      <a:r>
                        <a:rPr lang="ru-RU" sz="1000" baseline="0" noProof="1">
                          <a:latin typeface="T2 Rooftop" pitchFamily="2" charset="0"/>
                        </a:rPr>
                        <a:t> в СМТ</a:t>
                      </a:r>
                    </a:p>
                    <a:p>
                      <a:pPr rtl="0"/>
                      <a:r>
                        <a:rPr lang="ru-RU" sz="1000" noProof="1">
                          <a:latin typeface="T2 Rooftop" pitchFamily="2" charset="0"/>
                        </a:rPr>
                        <a:t>ТЗ отправлено в РТК</a:t>
                      </a:r>
                      <a:r>
                        <a:rPr lang="ru-RU" sz="1000" baseline="0" noProof="1">
                          <a:latin typeface="T2 Rooftop" pitchFamily="2" charset="0"/>
                        </a:rPr>
                        <a:t>  - 14.05.2026 </a:t>
                      </a:r>
                    </a:p>
                    <a:p>
                      <a:pPr rtl="0"/>
                      <a:r>
                        <a:rPr lang="ru-RU" sz="1000" baseline="0" noProof="1">
                          <a:latin typeface="T2 Rooftop" pitchFamily="2" charset="0"/>
                        </a:rPr>
                        <a:t>Выгрузка от РТК получена – 21.05.2026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aseline="0" noProof="1">
                          <a:latin typeface="T2 Rooftop" pitchFamily="2" charset="0"/>
                        </a:rPr>
                        <a:t>ТЗ в оценке у РТК – </a:t>
                      </a:r>
                      <a:r>
                        <a:rPr lang="ru-RU" sz="1000" strike="sngStrike" baseline="0" noProof="1">
                          <a:latin typeface="T2 Rooftop" pitchFamily="2" charset="0"/>
                        </a:rPr>
                        <a:t>29.05.2026</a:t>
                      </a:r>
                      <a:r>
                        <a:rPr lang="ru-RU" sz="1000" baseline="0" noProof="1">
                          <a:latin typeface="T2 Rooftop" pitchFamily="2" charset="0"/>
                        </a:rPr>
                        <a:t>  11.06 ожидаем согласование требований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noProof="1">
                          <a:latin typeface="T2 Rooftop" pitchFamily="2" charset="0"/>
                        </a:rPr>
                        <a:t>далее передача в коммерческий блок РТК для согласования не позднее 15.06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Формализация требований в сторону РТК для предоставления выгрузок в рамках миграции, а также разовых запросов (около 1 млн за каждую итерацию выгрузки)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090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Миграция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rtl="0">
                        <a:buFontTx/>
                        <a:buNone/>
                      </a:pPr>
                      <a:r>
                        <a:rPr lang="ru-RU" sz="1000" noProof="1">
                          <a:latin typeface="T2 Rooftop" pitchFamily="2" charset="0"/>
                        </a:rPr>
                        <a:t>-План взаимодействия с клиентами - согласован</a:t>
                      </a:r>
                    </a:p>
                    <a:p>
                      <a:pPr marL="0" indent="0" rtl="0">
                        <a:buFontTx/>
                        <a:buNone/>
                      </a:pPr>
                      <a:r>
                        <a:rPr lang="ru-RU" sz="1000" noProof="1">
                          <a:latin typeface="T2 Rooftop" pitchFamily="2" charset="0"/>
                        </a:rPr>
                        <a:t>-Скрипты у СМТ в проработке  - финализация 04.06.2026</a:t>
                      </a:r>
                    </a:p>
                    <a:p>
                      <a:pPr marL="0" indent="0" rtl="0">
                        <a:buFontTx/>
                        <a:buNone/>
                      </a:pPr>
                      <a:r>
                        <a:rPr lang="ru-RU" sz="1000" noProof="1">
                          <a:latin typeface="T2 Rooftop" pitchFamily="2" charset="0"/>
                        </a:rPr>
                        <a:t>-Старт тестов ЕЦТ – 08.06.2026</a:t>
                      </a:r>
                    </a:p>
                    <a:p>
                      <a:pPr marL="0" indent="0" rtl="0">
                        <a:buFontTx/>
                        <a:buNone/>
                      </a:pPr>
                      <a:r>
                        <a:rPr lang="ru-RU" sz="1000" noProof="1">
                          <a:latin typeface="T2 Rooftop" pitchFamily="2" charset="0"/>
                        </a:rPr>
                        <a:t>-График с датами по клиентам - готов </a:t>
                      </a:r>
                      <a:r>
                        <a:rPr lang="en-US" sz="1000" noProof="1">
                          <a:latin typeface="T2 Rooftop" pitchFamily="2" charset="0"/>
                        </a:rPr>
                        <a:t>v1.  </a:t>
                      </a:r>
                      <a:r>
                        <a:rPr lang="ru-RU" sz="1000" noProof="1">
                          <a:latin typeface="T2 Rooftop" pitchFamily="2" charset="0"/>
                        </a:rPr>
                        <a:t>сейчас на верификации у обслуживания. Возможны изменения</a:t>
                      </a:r>
                    </a:p>
                    <a:p>
                      <a:pPr marL="0" indent="0" rtl="0">
                        <a:buFontTx/>
                        <a:buNone/>
                      </a:pPr>
                      <a:r>
                        <a:rPr lang="ru-RU" sz="1000" noProof="1">
                          <a:latin typeface="T2 Rooftop" pitchFamily="2" charset="0"/>
                        </a:rPr>
                        <a:t>-Почасовой план ночных работ - есть</a:t>
                      </a:r>
                    </a:p>
                    <a:p>
                      <a:pPr marL="0" indent="0" rtl="0">
                        <a:buFontTx/>
                        <a:buNone/>
                      </a:pPr>
                      <a:r>
                        <a:rPr lang="ru-RU" sz="1000" noProof="1">
                          <a:latin typeface="T2 Rooftop" pitchFamily="2" charset="0"/>
                        </a:rPr>
                        <a:t>В работе:</a:t>
                      </a:r>
                    </a:p>
                    <a:p>
                      <a:pPr marL="0" indent="0" rtl="0">
                        <a:buFontTx/>
                        <a:buNone/>
                      </a:pPr>
                      <a:r>
                        <a:rPr lang="ru-RU" sz="1000" noProof="1">
                          <a:latin typeface="T2 Rooftop" pitchFamily="2" charset="0"/>
                        </a:rPr>
                        <a:t>матрица ответственных и маршруты обращений  в случае непредвиденных ситуаций и запросов клиентов до 04.06.</a:t>
                      </a:r>
                    </a:p>
                    <a:p>
                      <a:pPr marL="0" indent="0" rtl="0">
                        <a:buFontTx/>
                        <a:buNone/>
                      </a:pPr>
                      <a:r>
                        <a:rPr lang="ru-RU" sz="1000" noProof="1">
                          <a:latin typeface="T2 Rooftop" pitchFamily="2" charset="0"/>
                        </a:rPr>
                        <a:t>подготовка тестовых контрактов до 05.06.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814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Платформа РТК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000" noProof="1">
                          <a:latin typeface="T2 Rooftop" pitchFamily="2" charset="0"/>
                        </a:rPr>
                        <a:t>Стоп новых продаж на действующей М2М-платформе после запуска этапа 2 (голос и </a:t>
                      </a:r>
                      <a:r>
                        <a:rPr lang="en-US" sz="1000" noProof="1">
                          <a:latin typeface="T2 Rooftop" pitchFamily="2" charset="0"/>
                        </a:rPr>
                        <a:t>SMS), </a:t>
                      </a:r>
                      <a:r>
                        <a:rPr lang="ru-RU" sz="1000" noProof="1">
                          <a:latin typeface="T2 Rooftop" pitchFamily="2" charset="0"/>
                        </a:rPr>
                        <a:t>Остаются только доппродажи существующим клиентам.</a:t>
                      </a:r>
                    </a:p>
                    <a:p>
                      <a:pPr rtl="0"/>
                      <a:r>
                        <a:rPr lang="ru-RU" sz="1000" noProof="1">
                          <a:latin typeface="T2 Rooftop" pitchFamily="2" charset="0"/>
                        </a:rPr>
                        <a:t>В работе:</a:t>
                      </a:r>
                    </a:p>
                    <a:p>
                      <a:pPr rtl="0"/>
                      <a:r>
                        <a:rPr lang="ru-RU" sz="1000" noProof="1">
                          <a:latin typeface="T2 Rooftop" pitchFamily="2" charset="0"/>
                        </a:rPr>
                        <a:t>Информационное сообщение для сотрудников Т2 о прекращении продаж, допродаж и настроек - до 05.06.</a:t>
                      </a:r>
                    </a:p>
                    <a:p>
                      <a:pPr rtl="0"/>
                      <a:r>
                        <a:rPr lang="ru-RU" sz="1000" noProof="1">
                          <a:latin typeface="T2 Rooftop" pitchFamily="2" charset="0"/>
                        </a:rPr>
                        <a:t>Добавление информационного сообщения о запуске миграции на странице авторизации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202614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 rtl="0"/>
                      <a:r>
                        <a:rPr lang="ru-RU" sz="1000">
                          <a:latin typeface="T2 Rooftop" pitchFamily="2" charset="0"/>
                        </a:rPr>
                        <a:t>14.05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Платформа СМТ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Установка релиза с исправлениями резки скорости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Базово выполнено со стороны СМТ - 19 мая 2026 в тестах у ЕЦТ до 5 июня.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Есть нюансы по срабатыванию по переключению между безлимитами. 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5 июня СМТ сообщит срок релиза по окончательному устранению.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5 июня срок верификации всех открытых ошибок по обновлению версии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8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Устранение проблемы с резкой скорости по исчерпанию, внутри безлимита и переключением между ними. </a:t>
                      </a: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3501182519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algn="ctr" rtl="0"/>
                      <a:r>
                        <a:rPr lang="ru-RU" sz="1000">
                          <a:latin typeface="T2 Rooftop" pitchFamily="2" charset="0"/>
                        </a:rPr>
                        <a:t>Q2-Q3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Платформа СМТ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000" noProof="1">
                          <a:latin typeface="T2 Rooftop" pitchFamily="2" charset="0"/>
                        </a:rPr>
                        <a:t>Запуск </a:t>
                      </a:r>
                      <a:r>
                        <a:rPr lang="en-US" sz="1000" noProof="1">
                          <a:latin typeface="T2 Rooftop" pitchFamily="2" charset="0"/>
                        </a:rPr>
                        <a:t>CSD </a:t>
                      </a:r>
                      <a:r>
                        <a:rPr lang="ru-RU" sz="1000" noProof="1">
                          <a:latin typeface="T2 Rooftop" pitchFamily="2" charset="0"/>
                        </a:rPr>
                        <a:t>на М2М-платформе</a:t>
                      </a:r>
                    </a:p>
                    <a:p>
                      <a:pPr rtl="0"/>
                      <a:r>
                        <a:rPr lang="ru-RU" sz="1000" noProof="1">
                          <a:latin typeface="T2 Rooftop" pitchFamily="2" charset="0"/>
                        </a:rPr>
                        <a:t>Получен оборудование для тестов </a:t>
                      </a:r>
                      <a:r>
                        <a:rPr lang="en-US" sz="1000" noProof="1">
                          <a:latin typeface="T2 Rooftop" pitchFamily="2" charset="0"/>
                        </a:rPr>
                        <a:t>CSD (</a:t>
                      </a:r>
                      <a:r>
                        <a:rPr lang="ru-RU" sz="1000" noProof="1">
                          <a:latin typeface="T2 Rooftop" pitchFamily="2" charset="0"/>
                        </a:rPr>
                        <a:t>ноут, телефон)</a:t>
                      </a:r>
                    </a:p>
                    <a:p>
                      <a:pPr rtl="0"/>
                      <a:r>
                        <a:rPr lang="ru-RU" sz="1000" noProof="1">
                          <a:latin typeface="T2 Rooftop" pitchFamily="2" charset="0"/>
                        </a:rPr>
                        <a:t>Выполняются тесты (Миночкин и ко.) по </a:t>
                      </a:r>
                      <a:r>
                        <a:rPr lang="en-US" sz="1000" noProof="1">
                          <a:latin typeface="T2 Rooftop" pitchFamily="2" charset="0"/>
                        </a:rPr>
                        <a:t>CSD  </a:t>
                      </a:r>
                      <a:r>
                        <a:rPr lang="ru-RU" sz="1000" noProof="1">
                          <a:latin typeface="T2 Rooftop" pitchFamily="2" charset="0"/>
                        </a:rPr>
                        <a:t>с 26.05.2026 по 04.06.2026</a:t>
                      </a:r>
                    </a:p>
                    <a:p>
                      <a:pPr rtl="0"/>
                      <a:r>
                        <a:rPr lang="ru-RU" sz="1000" noProof="1">
                          <a:latin typeface="T2 Rooftop" pitchFamily="2" charset="0"/>
                        </a:rPr>
                        <a:t>Тестовые модемы получены на 1 месяц (1 комплект для покупки ~ 16 000 р), сейчас проблема с регистрацией в 2</a:t>
                      </a:r>
                      <a:r>
                        <a:rPr lang="en-US" sz="1000" noProof="1">
                          <a:latin typeface="T2 Rooftop" pitchFamily="2" charset="0"/>
                        </a:rPr>
                        <a:t>G </a:t>
                      </a:r>
                      <a:r>
                        <a:rPr lang="ru-RU" sz="1000" noProof="1">
                          <a:latin typeface="T2 Rooftop" pitchFamily="2" charset="0"/>
                        </a:rPr>
                        <a:t>в Билайне и поддержки </a:t>
                      </a:r>
                      <a:r>
                        <a:rPr lang="en-US" sz="1000" noProof="1">
                          <a:latin typeface="T2 Rooftop" pitchFamily="2" charset="0"/>
                        </a:rPr>
                        <a:t>CSD </a:t>
                      </a:r>
                      <a:r>
                        <a:rPr lang="ru-RU" sz="1000" noProof="1">
                          <a:latin typeface="T2 Rooftop" pitchFamily="2" charset="0"/>
                        </a:rPr>
                        <a:t>в роуминге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453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Платформа СМТ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000" noProof="1">
                          <a:latin typeface="T2 Rooftop" pitchFamily="2" charset="0"/>
                        </a:rPr>
                        <a:t>После запуска фазы 2 начинаем Roadmap по новой платформе, а также передача балансов на платформу и доработки по регуляторики.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- ФТ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 долг и </a:t>
                      </a:r>
                      <a:r>
                        <a:rPr lang="ru-RU" sz="800" baseline="0" noProof="1">
                          <a:latin typeface="T2 Rooftop" pitchFamily="2" charset="0"/>
                        </a:rPr>
                        <a:t>Roadmap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 2026  </a:t>
                      </a:r>
                      <a:r>
                        <a:rPr lang="ru-RU" sz="800" baseline="0" noProof="1">
                          <a:latin typeface="T2 Rooftop" pitchFamily="2" charset="0"/>
                        </a:rPr>
                        <a:t>в приоритет после миграции </a:t>
                      </a: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22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032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E3616-1571-F161-E960-9397FFE07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5E40FF5-02DB-5F8E-06EA-DC5536D256E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0BE547-4DFF-3C6C-EABB-597EC25010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92D41C-C02B-086A-7A0C-05BBB3BDB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134471"/>
            <a:ext cx="10515600" cy="555531"/>
          </a:xfrm>
        </p:spPr>
        <p:txBody>
          <a:bodyPr vert="horz" rIns="91440">
            <a:normAutofit/>
          </a:bodyPr>
          <a:lstStyle/>
          <a:p>
            <a:r>
              <a:rPr lang="ru-RU" sz="3200" dirty="0">
                <a:latin typeface="T2 Halvar Breit ExtraBold" pitchFamily="2" charset="0"/>
              </a:rPr>
              <a:t>Продуктовый офис: </a:t>
            </a:r>
            <a:r>
              <a:rPr lang="en-US" sz="3200" dirty="0">
                <a:latin typeface="T2 Halvar Breit ExtraBold" pitchFamily="2" charset="0"/>
              </a:rPr>
              <a:t>M2M / IoT</a:t>
            </a:r>
            <a:endParaRPr lang="ru-RU" sz="3200" dirty="0">
              <a:latin typeface="T2 Halvar Breit ExtraBold" pitchFamily="2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625EA9A9-D45E-75C2-BB0E-D2EA8EED9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729665"/>
              </p:ext>
            </p:extLst>
          </p:nvPr>
        </p:nvGraphicFramePr>
        <p:xfrm>
          <a:off x="694764" y="943783"/>
          <a:ext cx="11031071" cy="54063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6812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344706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5997389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2752164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Платформа СМТ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Реализация </a:t>
                      </a:r>
                      <a:r>
                        <a:rPr lang="ru-RU" sz="1000" kern="1200" dirty="0" err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Roadmap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 на 2026 год: 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Групповые пакеты </a:t>
                      </a:r>
                      <a:r>
                        <a:rPr lang="ru-RU" sz="1000" kern="1200" dirty="0" err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автопродления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 - в тестах у ЕЦТ до 5 июня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Пакеты до востребования/спящие пакеты - срок отгрузки июнь 2026  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kern="1200" dirty="0">
                        <a:solidFill>
                          <a:schemeClr val="dk1"/>
                        </a:solidFill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800" kern="1200" baseline="0" dirty="0" err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Roadmap</a:t>
                      </a:r>
                      <a:r>
                        <a:rPr lang="ru-RU" sz="800" kern="1200" baseline="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 2026 по развитию М2М Платформы согласно презентации</a:t>
                      </a: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1302216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Защищенный VPN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000" noProof="1">
                          <a:latin typeface="T2 Rooftop" pitchFamily="2" charset="0"/>
                        </a:rPr>
                        <a:t>Для реализации доработки не требуются, необходимы настройки и тестирование</a:t>
                      </a:r>
                    </a:p>
                    <a:p>
                      <a:pPr rtl="0"/>
                      <a:r>
                        <a:rPr lang="ru-RU" sz="1000" noProof="1">
                          <a:latin typeface="T2 Rooftop" pitchFamily="2" charset="0"/>
                        </a:rPr>
                        <a:t>Отправлен запрос на формулировки юристам (Гараган) – 20.05.2026</a:t>
                      </a:r>
                    </a:p>
                    <a:p>
                      <a:pPr rtl="0"/>
                      <a:r>
                        <a:rPr lang="ru-RU" sz="1000" noProof="1">
                          <a:latin typeface="T2 Rooftop" pitchFamily="2" charset="0"/>
                        </a:rPr>
                        <a:t>От юристов С. Боровинский сообщил, что даже если тесты пройдут успешно, нужно согласование сверху. Далее можно согласовать ДС или Приложение к Договору, но ответственность в любом случае будет на лицензиаре. - 27.05.2026</a:t>
                      </a:r>
                    </a:p>
                    <a:p>
                      <a:pPr rtl="0"/>
                      <a:r>
                        <a:rPr lang="ru-RU" sz="1000" noProof="1">
                          <a:latin typeface="T2 Rooftop" pitchFamily="2" charset="0"/>
                        </a:rPr>
                        <a:t>Настройки и тесты (Демина, Луковников, Шириков) -  </a:t>
                      </a:r>
                      <a:r>
                        <a:rPr lang="ru-RU" sz="1000" noProof="1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25-29 мая 2026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rtl="0">
                        <a:buFontTx/>
                        <a:buChar char="-"/>
                      </a:pP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483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SCEF  и NIDD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noProof="1">
                          <a:latin typeface="T2 Rooftop" pitchFamily="2" charset="0"/>
                        </a:rPr>
                        <a:t>- По </a:t>
                      </a:r>
                      <a:r>
                        <a:rPr lang="en-US" sz="1000" noProof="1">
                          <a:latin typeface="T2 Rooftop" pitchFamily="2" charset="0"/>
                        </a:rPr>
                        <a:t>SCEF: </a:t>
                      </a:r>
                      <a:r>
                        <a:rPr lang="ru-RU" sz="1000" noProof="1">
                          <a:latin typeface="T2 Rooftop" pitchFamily="2" charset="0"/>
                        </a:rPr>
                        <a:t>для </a:t>
                      </a:r>
                      <a:r>
                        <a:rPr lang="en-US" sz="1000" noProof="1">
                          <a:latin typeface="T2 Rooftop" pitchFamily="2" charset="0"/>
                        </a:rPr>
                        <a:t>NB IoT </a:t>
                      </a:r>
                      <a:r>
                        <a:rPr lang="ru-RU" sz="1000" noProof="1">
                          <a:latin typeface="T2 Rooftop" pitchFamily="2" charset="0"/>
                        </a:rPr>
                        <a:t>не будет работать </a:t>
                      </a:r>
                      <a:r>
                        <a:rPr lang="en-US" sz="1000" noProof="1">
                          <a:latin typeface="T2 Rooftop" pitchFamily="2" charset="0"/>
                        </a:rPr>
                        <a:t>c Huawei, </a:t>
                      </a:r>
                      <a:r>
                        <a:rPr lang="ru-RU" sz="1000" noProof="1">
                          <a:latin typeface="T2 Rooftop" pitchFamily="2" charset="0"/>
                        </a:rPr>
                        <a:t>но  можно реализовать через С</a:t>
                      </a:r>
                      <a:r>
                        <a:rPr lang="en-US" sz="1000" noProof="1">
                          <a:latin typeface="T2 Rooftop" pitchFamily="2" charset="0"/>
                        </a:rPr>
                        <a:t>Gy </a:t>
                      </a:r>
                      <a:r>
                        <a:rPr lang="ru-RU" sz="1000" noProof="1">
                          <a:latin typeface="T2 Rooftop" pitchFamily="2" charset="0"/>
                        </a:rPr>
                        <a:t>интерфейс.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noProof="1">
                          <a:latin typeface="T2 Rooftop" pitchFamily="2" charset="0"/>
                        </a:rPr>
                        <a:t>- </a:t>
                      </a:r>
                      <a:r>
                        <a:rPr lang="en-US" sz="1000" noProof="1">
                          <a:latin typeface="T2 Rooftop" pitchFamily="2" charset="0"/>
                        </a:rPr>
                        <a:t>SCEF </a:t>
                      </a:r>
                      <a:r>
                        <a:rPr lang="ru-RU" sz="1000" noProof="1">
                          <a:latin typeface="T2 Rooftop" pitchFamily="2" charset="0"/>
                        </a:rPr>
                        <a:t>нужен только для расширенных нотификаций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noProof="1">
                          <a:latin typeface="T2 Rooftop" pitchFamily="2" charset="0"/>
                        </a:rPr>
                        <a:t>- По </a:t>
                      </a:r>
                      <a:r>
                        <a:rPr lang="en-US" sz="1000" noProof="1">
                          <a:latin typeface="T2 Rooftop" pitchFamily="2" charset="0"/>
                        </a:rPr>
                        <a:t>NIDD </a:t>
                      </a:r>
                      <a:r>
                        <a:rPr lang="ru-RU" sz="1000" noProof="1">
                          <a:latin typeface="T2 Rooftop" pitchFamily="2" charset="0"/>
                        </a:rPr>
                        <a:t>будет работать через </a:t>
                      </a:r>
                      <a:r>
                        <a:rPr lang="en-US" sz="1000" noProof="1">
                          <a:latin typeface="T2 Rooftop" pitchFamily="2" charset="0"/>
                        </a:rPr>
                        <a:t>CGy </a:t>
                      </a:r>
                      <a:r>
                        <a:rPr lang="ru-RU" sz="1000" noProof="1">
                          <a:latin typeface="T2 Rooftop" pitchFamily="2" charset="0"/>
                        </a:rPr>
                        <a:t>интерфейс, нужно обсудить интеграцию с СМТ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noProof="1">
                          <a:latin typeface="T2 Rooftop" pitchFamily="2" charset="0"/>
                        </a:rPr>
                        <a:t>Встреча Техблоком  и СМТ – 22.05.2026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noProof="1">
                          <a:latin typeface="T2 Rooftop" pitchFamily="2" charset="0"/>
                        </a:rPr>
                        <a:t>Запрошены требования по </a:t>
                      </a:r>
                      <a:r>
                        <a:rPr lang="en-US" sz="1000" noProof="1">
                          <a:latin typeface="T2 Rooftop" pitchFamily="2" charset="0"/>
                        </a:rPr>
                        <a:t>SCEF </a:t>
                      </a:r>
                      <a:r>
                        <a:rPr lang="ru-RU" sz="1000" noProof="1">
                          <a:latin typeface="T2 Rooftop" pitchFamily="2" charset="0"/>
                        </a:rPr>
                        <a:t>у СМТ. СМТ ушел в оценку до 12.06.2026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noProof="1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SCEF –выступает посредником между сетью оператора и серверами приложений, предоставляя стандартизированный API-интерфейс для доступа к сетевым сервисам.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Будет использоваться для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 расширенных нотификаций </a:t>
                      </a:r>
                      <a:r>
                        <a:rPr lang="ru-RU" sz="800" dirty="0">
                          <a:latin typeface="T2 Rooftop" pitchFamily="2" charset="0"/>
                        </a:rPr>
                        <a:t>в М2М Платформе.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NIDD (Non-IP Data Delivery) — это технология сотовой связи, предназначенная для передачи небольших пакетов данных от устройств Интернета вещей (IoT) без использования IP-адресов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844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CSD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rtl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latin typeface="T2 Rooftop" pitchFamily="2" charset="0"/>
                        </a:rPr>
                        <a:t>Запуск узлов. Масштабирование технологии передачи данных через голосовой канал</a:t>
                      </a:r>
                    </a:p>
                    <a:p>
                      <a:pPr marL="0" indent="0" rtl="0">
                        <a:buFont typeface="Arial" panose="020B0604020202020204" pitchFamily="34" charset="0"/>
                        <a:buNone/>
                      </a:pPr>
                      <a:r>
                        <a:rPr lang="en-US" sz="1000" dirty="0">
                          <a:latin typeface="T2 Rooftop" pitchFamily="2" charset="0"/>
                        </a:rPr>
                        <a:t>IP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отправлен в техблок</a:t>
                      </a:r>
                    </a:p>
                    <a:p>
                      <a:pPr marL="0" indent="0" rtl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latin typeface="T2 Rooftop" pitchFamily="2" charset="0"/>
                        </a:rPr>
                        <a:t>Обозначены приоритеты запуск  (СЗ)</a:t>
                      </a:r>
                    </a:p>
                    <a:p>
                      <a:pPr marL="0" indent="0" rtl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latin typeface="T2 Rooftop" pitchFamily="2" charset="0"/>
                        </a:rPr>
                        <a:t>Приоритеты:  продукт – первый СПб, остальные потом. ЦП – приоритет ЕКТ,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НиНо</a:t>
                      </a:r>
                      <a:r>
                        <a:rPr lang="ru-RU" sz="1000" dirty="0">
                          <a:latin typeface="T2 Rooftop" pitchFamily="2" charset="0"/>
                        </a:rPr>
                        <a:t>, СПб, Ростов</a:t>
                      </a:r>
                    </a:p>
                    <a:p>
                      <a:pPr marL="0" indent="0" rtl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latin typeface="T2 Rooftop" pitchFamily="2" charset="0"/>
                        </a:rPr>
                        <a:t>План график – 22-25 мая (Кокурин)</a:t>
                      </a:r>
                    </a:p>
                    <a:p>
                      <a:pPr marL="0" indent="0" rtl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latin typeface="T2 Rooftop" pitchFamily="2" charset="0"/>
                        </a:rPr>
                        <a:t>Активности: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T2 Rooftop" pitchFamily="2" charset="0"/>
                        </a:rPr>
                        <a:t>Обсудить привлечение Булата для ПНР с Шорниковым. Отв. Кокурин А.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T2 Rooftop" pitchFamily="2" charset="0"/>
                        </a:rPr>
                        <a:t>Цикл закупки, нужен ли новый </a:t>
                      </a:r>
                      <a:r>
                        <a:rPr lang="en-US" sz="1000" dirty="0">
                          <a:latin typeface="T2 Rooftop" pitchFamily="2" charset="0"/>
                        </a:rPr>
                        <a:t>RFI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обсудить с Гридиным и Закупками.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T2 Rooftop" pitchFamily="2" charset="0"/>
                        </a:rPr>
                        <a:t>Проверить спецификацию железа – отв. Руф 4)  Подготовить ПГ реализации проекта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верхнеуровневый</a:t>
                      </a:r>
                      <a:r>
                        <a:rPr lang="ru-RU" sz="1000" dirty="0">
                          <a:latin typeface="T2 Rooftop" pitchFamily="2" charset="0"/>
                        </a:rPr>
                        <a:t> до конца недели. Отв. Кокурин А.</a:t>
                      </a:r>
                    </a:p>
                    <a:p>
                      <a:pPr marL="0" indent="0" rtl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latin typeface="T2 Rooftop" pitchFamily="2" charset="0"/>
                        </a:rPr>
                        <a:t>Кокурин А. - </a:t>
                      </a:r>
                      <a:r>
                        <a:rPr lang="ru-RU" sz="1000" strike="sngStrike" dirty="0">
                          <a:latin typeface="T2 Rooftop" pitchFamily="2" charset="0"/>
                        </a:rPr>
                        <a:t>план график – 22-25 мая.</a:t>
                      </a:r>
                    </a:p>
                    <a:p>
                      <a:pPr marL="0" indent="0" rtl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latin typeface="T2 Rooftop" pitchFamily="2" charset="0"/>
                        </a:rPr>
                        <a:t>Запрошен новый срок по план-графику - 29.05.2026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План-график получен - 04.06.2026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090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073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6F02A-BD6E-1EA8-E66B-D53C02388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749785B-1E84-A07D-37DB-AE846CB688C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1FA807-C080-224A-691C-FDC3E33DDB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C802C-9497-3A65-3B10-116BD0147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3" y="134471"/>
            <a:ext cx="11568953" cy="555531"/>
          </a:xfrm>
        </p:spPr>
        <p:txBody>
          <a:bodyPr vert="horz" rIns="91440">
            <a:noAutofit/>
          </a:bodyPr>
          <a:lstStyle/>
          <a:p>
            <a:r>
              <a:rPr lang="ru-RU" sz="3200" dirty="0">
                <a:latin typeface="T2 Halvar Breit ExtraBold" pitchFamily="2" charset="0"/>
              </a:rPr>
              <a:t>Продуктовый офис: Перспективные продукты</a:t>
            </a: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B122FE26-7D18-4F4A-FC74-F1E82E7B3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191293"/>
              </p:ext>
            </p:extLst>
          </p:nvPr>
        </p:nvGraphicFramePr>
        <p:xfrm>
          <a:off x="694764" y="943783"/>
          <a:ext cx="11031071" cy="582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6812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443318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5853953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2796988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май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Геоплатформа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Переработка договора по геоплатформе, </a:t>
                      </a:r>
                      <a:b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</a:br>
                      <a: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ЮД подготовили драфт, отправлен на доработку с комментариями – не отвечает фактическому описанию сервиса</a:t>
                      </a:r>
                      <a:b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</a:br>
                      <a: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требуется его упрощение, а также изменение в NDA, в дальнейшем переход на оферту (вся необходимая информация передана юристам)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Новая итерация с ЮД по договору </a:t>
                      </a: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kern="1200" noProof="1">
                        <a:solidFill>
                          <a:schemeClr val="dk1"/>
                        </a:solidFill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ru-RU" sz="800" kern="120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 </a:t>
                      </a:r>
                      <a:endParaRPr lang="ru-RU" sz="800" kern="1200" dirty="0">
                        <a:solidFill>
                          <a:schemeClr val="dk1"/>
                        </a:solidFill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5090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май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Геоплатформа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Описание процесса продажи/допродажи</a:t>
                      </a:r>
                      <a:b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</a:br>
                      <a: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Подготовлено первое описание процесса - Согласовано участие </a:t>
                      </a:r>
                      <a:r>
                        <a:rPr lang="en-US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middle office </a:t>
                      </a:r>
                      <a: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в процессе продажи и доподключения. Подготовлено БФТ для доработки </a:t>
                      </a:r>
                      <a:r>
                        <a:rPr lang="en-US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CRM </a:t>
                      </a:r>
                      <a: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по процессу продажи Геоплатформы, включает в себя 2-этапное заведение зачвки.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Подготовлено первое описание процесса.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ru-RU" sz="8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Подготовлено первое описание процесса. Основная цель – сократить кол-во участников в цепочке и приземлить в CRM. Можно достичь, используя ресурсы middle office</a:t>
                      </a:r>
                      <a:endParaRPr lang="ru-RU" sz="800" kern="1200" dirty="0">
                        <a:solidFill>
                          <a:schemeClr val="dk1"/>
                        </a:solidFill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8814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Геоплатформа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Федеральное обучение по геосервисам, после этого будет проведено обучение по турплатформе для КБ и </a:t>
                      </a:r>
                      <a:r>
                        <a:rPr lang="en-US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VAS </a:t>
                      </a:r>
                      <a: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Обучение РУДов 19, 20 и 21 мая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В </a:t>
                      </a:r>
                      <a:r>
                        <a:rPr lang="en-US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BD </a:t>
                      </a:r>
                      <a:r>
                        <a:rPr lang="ru-RU" sz="1000" kern="1200" noProof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и партнёрам поставлена задача по наполнению ЛК инструкциями по сервису + заведение калькулятора в ЛК.</a:t>
                      </a:r>
                      <a:endParaRPr lang="ru-RU" sz="1000" kern="1200" noProof="1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ru-RU" sz="800" kern="1200" dirty="0">
                        <a:solidFill>
                          <a:schemeClr val="dk1"/>
                        </a:solidFill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0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май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Маркетинговые нотификации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Маркетинговые нотификации – настройка регулярной отчетности для клиентов (1 раз в неделю) и для ЦФ (в начале месяца) – </a:t>
                      </a: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8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Договорились, что отчетность будет приходить на нас с Юлей и VAS ЦФ</a:t>
                      </a:r>
                      <a:br>
                        <a:rPr lang="ru-RU" sz="8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8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Отдаем триггеры по собственной базе ЮЛ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7532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июнь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Нотификации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Скорринг и нотификации– описание продукта на ВИКИ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встреча с </a:t>
                      </a:r>
                      <a:r>
                        <a:rPr lang="en-US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PreSale (BigData), </a:t>
                      </a: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требуется получение от них информации по описанию продукта, какие модели используются, а также для продукта информация по используемым моделям по клиентам и описание этих моделей.</a:t>
                      </a: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 (без изменений)</a:t>
                      </a:r>
                      <a:endParaRPr lang="ru-RU" sz="1000" b="0" i="0" u="none" strike="noStrike" noProof="1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8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встреча с PreSale (BigData), требуется получение от них информации по описанию продукта, какие модели используются, а также для продукта информация по используемым моделям по клиентам и описание этих моделей.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72277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июнь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Нотификации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Индексация с 01.07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Подготовка расчетов. Повышение на 15-20% </a:t>
                      </a: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b="0" i="0" u="none" strike="noStrike" noProof="1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8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Повышение на 15-20%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4265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Исследования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ДИТ Москвы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Принято решение, что Т2 будет фронтить выручку. По срокам пока нет определенности. Общая сумма контракта 500 млн </a:t>
                      </a: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b="0" i="0" u="none" strike="noStrike" noProof="1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ru-RU" sz="800" b="0" i="0" u="none" strike="noStrike" noProof="1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7329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BigData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M&amp;A </a:t>
                      </a: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BestPlace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 - </a:t>
                      </a: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8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Рассматривают покупку сервиса BestPlace (поставщик геоаналитики)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08120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май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BigData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Начисления за май 2026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Сбербанк 17 млн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Клик ту Мани 20 млн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ru-RU" sz="800" b="0" i="0" u="none" strike="noStrike" noProof="1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3877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июнь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Исследования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Глоубайт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/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Rostics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Проверка данных (500 тыс), положительный результат контракт 12 млн </a:t>
                      </a: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b="0" i="0" u="none" strike="noStrike" noProof="1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ru-RU" sz="800" b="0" i="0" u="none" strike="noStrike" noProof="1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20593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01.07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Кибербез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Новое название сервиса «Киберграмотность сотрудников»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Готовность коммуникации по изменению названия к 1 июля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rtl="0"/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458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842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C0B82-AEAA-E127-391A-CF6E29589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0B38FC-7F2D-9C23-8E0E-9CB8C2579EA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49785B-1E84-A07D-37DB-AE846CB688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B85BF-CDB7-5847-41A4-A69845EB6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134471"/>
            <a:ext cx="11542058" cy="555531"/>
          </a:xfrm>
        </p:spPr>
        <p:txBody>
          <a:bodyPr vert="horz" rIns="91440">
            <a:normAutofit/>
          </a:bodyPr>
          <a:lstStyle/>
          <a:p>
            <a:r>
              <a:rPr lang="ru-RU" sz="3200" dirty="0">
                <a:latin typeface="T2 Halvar Breit ExtraBold" pitchFamily="2" charset="0"/>
              </a:rPr>
              <a:t>Продуктовый офис: Перспективные продукты</a:t>
            </a: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D08FDAFA-A44D-0CFB-CCE5-990B198AD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629722"/>
              </p:ext>
            </p:extLst>
          </p:nvPr>
        </p:nvGraphicFramePr>
        <p:xfrm>
          <a:off x="694764" y="943783"/>
          <a:ext cx="11031071" cy="55232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6812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443318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5853953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2796988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июнь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Кибербез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+mn-ea"/>
                          <a:cs typeface="+mn-cs"/>
                        </a:rPr>
                        <a:t>Изменение рекламных и публичных материалов с новым названием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+mn-ea"/>
                          <a:cs typeface="+mn-cs"/>
                        </a:rPr>
                        <a:t>используем новое название </a:t>
                      </a:r>
                      <a:r>
                        <a:rPr lang="ru-RU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+mn-ea"/>
                          <a:cs typeface="+mn-cs"/>
                        </a:rPr>
                        <a:t>Киберграмотность</a:t>
                      </a:r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+mn-ea"/>
                          <a:cs typeface="+mn-cs"/>
                        </a:rPr>
                        <a:t> сотрудников (Security </a:t>
                      </a:r>
                      <a:r>
                        <a:rPr lang="ru-RU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+mn-ea"/>
                          <a:cs typeface="+mn-cs"/>
                        </a:rPr>
                        <a:t>Awareness</a:t>
                      </a:r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+mn-ea"/>
                          <a:cs typeface="+mn-cs"/>
                        </a:rPr>
                        <a:t>) и меняем его во всех рекламных материалов. Основная цель - уход от англицизма и корректировка материалов после введения новых тарифов и упоминания фразы "обучение и образование"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63047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Кибербез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Security </a:t>
                      </a: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Awarenesses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- проведено обучение после изменения стоимости – продукт убираем из продаж в сегменте 1-3 (сформировать сообщение для ТГ)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Обучение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РУДов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– 26,27,28 мая. - проведено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Рассказать ключевые возможности продукта, его ценности для бизнеса заказчика на уровне ЛПР. Обсудить новые тарифы и минимальный порог входа.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5090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Кибербез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2 Rooftop" pitchFamily="2" charset="0"/>
                        </a:rPr>
                        <a:t>Ушли от распределения по принципу </a:t>
                      </a:r>
                      <a:r>
                        <a:rPr lang="ru-RU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T2 Rooftop" pitchFamily="2" charset="0"/>
                        </a:rPr>
                        <a:t>ревшер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2 Rooftop" pitchFamily="2" charset="0"/>
                        </a:rPr>
                        <a:t> и согласовали понятие скидки от РРЦ. Договор у юристов на </a:t>
                      </a:r>
                      <a:r>
                        <a:rPr lang="ru-RU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T2 Rooftop" pitchFamily="2" charset="0"/>
                        </a:rPr>
                        <a:t>фин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2 Rooftop" pitchFamily="2" charset="0"/>
                        </a:rPr>
                        <a:t> согласовании, таблицу с новыми ценами готовит Партнер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19374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>
                          <a:latin typeface="T2 Rooftop" pitchFamily="2" charset="0"/>
                        </a:rPr>
                        <a:t>июнь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Кибербез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Запуск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Aura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light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– необходимо продумать над тарификацией</a:t>
                      </a:r>
                      <a:endParaRPr lang="ru-RU" sz="1000" b="0" i="0" u="none" strike="noStrike" dirty="0">
                        <a:solidFill>
                          <a:srgbClr val="FF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T2 Rooftop" pitchFamily="2" charset="0"/>
                        </a:rPr>
                        <a:t>Мониторинг внешних цифровых угроз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8814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Кибербез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Solar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(РТК ИБ) отправлено 2 шаблона договора по лицензиям (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Solar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Space и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Security Awarenesses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). 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Открытый вопрос по предоставлению техподдержки – Добавляем в один договор с ПО, ТП будем описывать как поставка товара – нужен шаблон договора для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Солара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Со стороны Партнера подготовлены рамочные контакты на ПО +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серт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на ТП по нашим шаблонам. Уточняем по количеству контрактов и верхняя планка по договору + применить вместо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ревшера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подход со скидкой.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На стороне партнера готовится договор по форме нашего шаблона. Согласовали еженедельную встречу по четвергам. Первая встреча пройдет 1 июня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01182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+mn-ea"/>
                          <a:cs typeface="+mn-cs"/>
                        </a:rPr>
                        <a:t>01.06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+mn-ea"/>
                          <a:cs typeface="+mn-cs"/>
                        </a:rPr>
                        <a:t>Кибербез</a:t>
                      </a:r>
                      <a:endParaRPr lang="ru-RU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+mn-ea"/>
                          <a:cs typeface="+mn-cs"/>
                        </a:rPr>
                        <a:t>Перенос текущих абонентов на новые пары 1 июня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+mn-ea"/>
                          <a:cs typeface="+mn-cs"/>
                        </a:rPr>
                        <a:t>28 мая согласовал новый БП с мидл офис с добавлением маркер услуги, 29 мая навешиваем с Иваном услугу на ком номера. 1 июня утром произошла перенастройка.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5824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T2 Облака для бизнеса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Организовать канал IPsec для отправки нотификаций по 2FA нашим заказчикам. </a:t>
                      </a:r>
                      <a:r>
                        <a:rPr lang="ru-RU" sz="1000" b="0" i="0" u="none" strike="sng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Времено</a:t>
                      </a:r>
                      <a:r>
                        <a:rPr lang="ru-RU" sz="1000" b="0" i="0" u="none" strike="sng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организовать отправку паролей силами ЦХД . Изменить имя отправителя sms. Продление сертификата SSL с более длительным сроком.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Рассматриваем другой подход по организации отправки смс. Делаем по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API,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домен нужно перевести в нашей владение. Нужно получить согласие и подтверждение от Партнера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Автоматизация процесса доступа к ЛК Облака Реселлера нашим заказчикам. Имя отправителя – защита бренда. 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7532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latin typeface="T2 Rooftop" pitchFamily="2" charset="0"/>
                        </a:rPr>
                        <a:t>07.06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T2 Облака для бизнеса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Подготовка к обучению. </a:t>
                      </a: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Брендирование партнерской презентации в Т2. </a:t>
                      </a: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Подготовка клиентских материалов - в маркетинг переданы материалы на создание КП,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одностраничник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</a:t>
                      </a: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Email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информирование, ТГ сообщение</a:t>
                      </a: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подготовка лендинга сайта. Предварительные сроки - 7 июля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Запуск нового продукта. Согласование формата и материалов проведения обучения сотрудников с ЦХД.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72277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945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A682E-145F-CA3B-BFDA-B346346F7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6A3C344-4DAD-C5D1-DC94-B5FCF85542C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0B38FC-7F2D-9C23-8E0E-9CB8C2579E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F9A898-006D-5E67-D203-32DD41B9B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134471"/>
            <a:ext cx="11542058" cy="555531"/>
          </a:xfrm>
        </p:spPr>
        <p:txBody>
          <a:bodyPr vert="horz" rIns="91440">
            <a:normAutofit/>
          </a:bodyPr>
          <a:lstStyle/>
          <a:p>
            <a:r>
              <a:rPr lang="ru-RU" sz="3200" dirty="0">
                <a:latin typeface="T2 Halvar Breit ExtraBold" pitchFamily="2" charset="0"/>
              </a:rPr>
              <a:t>Продуктовый офис: Перспективные продукты</a:t>
            </a: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893581A4-F3DA-03FE-48D7-1E2B0F92E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537639"/>
              </p:ext>
            </p:extLst>
          </p:nvPr>
        </p:nvGraphicFramePr>
        <p:xfrm>
          <a:off x="694764" y="943783"/>
          <a:ext cx="11031071" cy="5410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6812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443318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5853953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2796988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T2 Облака для бизнеса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Договорная обвязка: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1 Подготовка клиентского договора- 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2 Согласование с ЦХД Партнерского договора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3 Подготовка БП подключения, сопровождения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5 июня драфт БП без отправки смс для доступа ЛК Т2. Все нотификации на стороне партнера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31952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Аренда ЦОД (Co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location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Согласование клиентского договора с юристами (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ок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)+ методологи (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ок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), 08.06 – отправка с правками в ОЦО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Доработка БП по продаже и сопровождению клиента - Middle Office</a:t>
                      </a: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подготовка формы ТКП для загрузки в систему ЦХД</a:t>
                      </a: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согласование формулировок по распределению дохода в партнерском договоре с ЦХД и Методологи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330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latin typeface="T2 Rooftop" pitchFamily="2" charset="0"/>
                        </a:rPr>
                        <a:t>25.05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Аренда ЦОД (Co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location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Коммуникация по запуску продукта: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1 Подготовка страницы на KMC/Маяк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2 Подготовка клиентских материалов 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3 Email информирование, ТГ сообщение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261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Продажи на стороне Т2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Поставлены цели по количеству лидов для 1-3 и 4+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В работе лид от t2 на 115 тыс. руб.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ООО "АМПАРУС ТУР" чек 100к, ВК, Мах, WA и 3 оператора на 12 мес с плеча Т2 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5090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Проект с РТК ВАТС</a:t>
                      </a:r>
                    </a:p>
                    <a:p>
                      <a:pPr marL="171450" marR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Отправлены материалы ;презентации +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API)</a:t>
                      </a:r>
                    </a:p>
                    <a:p>
                      <a:pPr marL="171450" marR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Договор и схема тарификации в процессе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41226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Запустили тариф «Все включено»: коммуникация (почта и ТГ) и инфо на КМС. Хорошие отзывы от продаж.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Продлеваем до 15 июня</a:t>
                      </a:r>
                    </a:p>
                    <a:p>
                      <a:pPr algn="l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Собираем статистику- договорились с первого числа маркировать тарифы все включено в АМО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CRM</a:t>
                      </a:r>
                    </a:p>
                    <a:p>
                      <a:pPr algn="l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С 15 июня пересмотр стоимости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по результатам месяца подведем итог по все включено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97347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Получено 3 лида от Umnico в сторону t2 (2 в работе 1 заключили договор) – нужно промаркировать этих клиентов для последующего анализа - все лиды в работе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20651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Иконки российских сервисов – необходимо получить от Российских правообладателей разрешение на использование товарного знака (штраф до 10 млн. руб.). Ждем от юристов шаблоны запросов правообладателям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также разрешение должны получить со стороны ТДМ-Тех (АмоCRM получение разрешения через покупку минимальной лицензии)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58209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261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6E3AE-9164-0744-A06A-B96E0943E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01EDA58-7E02-7259-B64F-41448A1E0AE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3C344-4DAD-C5D1-DC94-B5FCF85542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D6AE6-E758-EB1D-E5D3-20A6D71CB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134471"/>
            <a:ext cx="11542058" cy="555531"/>
          </a:xfrm>
        </p:spPr>
        <p:txBody>
          <a:bodyPr vert="horz" rIns="91440">
            <a:normAutofit/>
          </a:bodyPr>
          <a:lstStyle/>
          <a:p>
            <a:r>
              <a:rPr lang="ru-RU" sz="3200" dirty="0">
                <a:latin typeface="T2 Halvar Breit ExtraBold" pitchFamily="2" charset="0"/>
              </a:rPr>
              <a:t>Продуктовый офис: Перспективные продукты</a:t>
            </a: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E11D8098-B317-A837-B9F7-75238E777E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192853"/>
              </p:ext>
            </p:extLst>
          </p:nvPr>
        </p:nvGraphicFramePr>
        <p:xfrm>
          <a:off x="694764" y="943783"/>
          <a:ext cx="11031071" cy="55086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6812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443318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5853953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2796988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Иконки зарубежных сервисов – предложение от юристов не писать наименование сервиса, а также маркировать сервисы, которые признаны на территории РФ экстремистскими  (ТГ, ФБ + ВА)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Встреча с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Горбенковой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01 июня</a:t>
                      </a:r>
                    </a:p>
                    <a:p>
                      <a:pPr algn="l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По результатам встречи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Логотипы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Instagram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и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Facebook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меняем, подписываем Соцсеть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Meta*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Логотип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WhatsApp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оставляем в правильном отображении, подписываем Мессенджер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Meta*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Логотип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WABA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оставляем в правильном отображении, подписываем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API Meta*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*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Соцсети, мессенджеры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API Meta,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признанные экстремистскими в России. Пользователь несет ответственность за содержание направляемых сообщений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До получения разрешений от правообладателей разрешений на использование логотипов – не проводить активные рекламные кампании. По получению разрешений целевой срок – до сентября 2026, так как запланирован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флайт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Со стороны бизнеса помочь с контактами по каждому из мессенждеров и соцсетей</a:t>
                      </a:r>
                    </a:p>
                    <a:p>
                      <a:pPr algn="l" fontAlgn="ctr">
                        <a:buNone/>
                      </a:pP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4930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Поиск налогового агента для приема иностранных платежей: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1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Аксофт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- отказ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2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Омнитех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в работе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3 Банк НОВОКИБ в работе 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От налогов приоритетней прямой прием платежей на Т2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134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Вопрос к нашим налогам – прием платежей со стороны Казахстана (30% иностранных платежей шли из этой страны), чтобы т2 выступала в качестве налогового агента в этой стране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Ответ от налогов –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ок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, юристы - Ок</a:t>
                      </a:r>
                    </a:p>
                    <a:p>
                      <a:pPr algn="l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С учетом небольшой материальности можем запуститься и смотреть как будет развиваться бизнес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Ресурсов у налогов становиться налоговым агентом нет. С учетом небольшой материальности можем запуститься и смотреть как будет развиваться бизнес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698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Автоматизация платежей и начислений – выделен ПМ, в июне выходим на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DB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. Ждем архитектора до начала июня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были проведены первые установочные встречи - архитектор вернется с обратной связью в следующий </a:t>
                      </a:r>
                      <a:r>
                        <a:rPr lang="ru-RU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чт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0959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Воронка продаж: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Аскона – в воронке продаж Umnico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</a:b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ИП Селянина - чек 300К обсуждение договора - оплатили 10К (тест на 1 магазин), согласование договора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9062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Сравнительный анализ с конкурентами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Запрос от продаж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4265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852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E7FBD-38C6-6986-B41F-EF7F37219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D439B65-D82F-3B90-397C-13642B7ED8D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1EDA58-7E02-7259-B64F-41448A1E0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6D09E0-7BD6-E913-CB3C-B82E3FAD2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134471"/>
            <a:ext cx="11542058" cy="555531"/>
          </a:xfrm>
        </p:spPr>
        <p:txBody>
          <a:bodyPr vert="horz" rIns="91440">
            <a:normAutofit/>
          </a:bodyPr>
          <a:lstStyle/>
          <a:p>
            <a:r>
              <a:rPr lang="ru-RU" sz="3200" dirty="0">
                <a:latin typeface="T2 Halvar Breit ExtraBold" pitchFamily="2" charset="0"/>
              </a:rPr>
              <a:t>Продуктовый офис: Перспективные продукты</a:t>
            </a: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E37662B0-36EC-B79C-3618-EFF94475D1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410410"/>
              </p:ext>
            </p:extLst>
          </p:nvPr>
        </p:nvGraphicFramePr>
        <p:xfrm>
          <a:off x="694764" y="943783"/>
          <a:ext cx="11031071" cy="307149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6812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443318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5853953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2796988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Co-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logo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Предложенный вариант - ок. От маркетинга: какие еще были варианты и больше деталей по основной странице сайта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4930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Страница на сайте </a:t>
                      </a: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в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решениях для бизнеса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 к середине лета ориентировочно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134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КП,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одностраничник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Приведение материалов в соответствие с брендбуком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698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Co-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logo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Предложенный вариант - ок. От маркетинга: какие еще были варианты и больше деталей по основной странице сайта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0959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Страница на сайте </a:t>
                      </a:r>
                      <a:r>
                        <a:rPr lang="ru-RU" sz="1000" b="0" i="0" u="none" strike="noStrike" noProof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в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решениях для бизнеса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 к середине лета ориентировочно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9062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КП,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одностраничник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Приведение материалов в соответствие с брендбуком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4265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Мобильное приложение, публикация в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сторах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 от т2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В работе у </a:t>
                      </a:r>
                      <a:r>
                        <a:rPr lang="ru-RU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диджитала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. До публикации необходимо согласование с ИБ и юристами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5604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Umnico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Тариф для микро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</a:rPr>
                        <a:t>Запрос от продаж на тариф для микро за 2000 -3000 с 2 операторами и ограниченным набором каналов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T2 Rooftop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302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9351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79C34-FF4B-A733-F50B-D0DEF2D10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F01BFC0-D48C-41A8-A749-7EC961AD9D8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3B744E-8E56-5E15-9422-F4FB55C1EA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F56505-2454-3059-7A3A-71869E756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134471"/>
            <a:ext cx="10515600" cy="555531"/>
          </a:xfrm>
        </p:spPr>
        <p:txBody>
          <a:bodyPr vert="horz" rIns="91440">
            <a:noAutofit/>
          </a:bodyPr>
          <a:lstStyle/>
          <a:p>
            <a:r>
              <a:rPr lang="ru-RU" sz="3200" dirty="0">
                <a:latin typeface="T2 Halvar Breit ExtraBold" pitchFamily="2" charset="0"/>
              </a:rPr>
              <a:t>Продуктовый офис: </a:t>
            </a:r>
            <a:r>
              <a:rPr lang="en-US" sz="3200" dirty="0">
                <a:latin typeface="T2 Halvar Breit ExtraBold" pitchFamily="2" charset="0"/>
              </a:rPr>
              <a:t>CORE</a:t>
            </a:r>
            <a:endParaRPr lang="ru-RU" sz="3200" dirty="0">
              <a:latin typeface="T2 Halvar Breit ExtraBold" pitchFamily="2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29252398-8D3A-7352-96AF-9C6E15E70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192655"/>
              </p:ext>
            </p:extLst>
          </p:nvPr>
        </p:nvGraphicFramePr>
        <p:xfrm>
          <a:off x="694764" y="943783"/>
          <a:ext cx="11031071" cy="5119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29236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389529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5836024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2976282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T2 Rooftop" pitchFamily="2" charset="0"/>
                        </a:rPr>
                        <a:t>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Перенос технологических номеров на контракты в биллинг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800">
                          <a:latin typeface="T2 Rooftop" pitchFamily="2" charset="0"/>
                        </a:rPr>
                        <a:t>Для увел.абон базы и выручки. Всего 2,1 млн. разобрали 150 тыс.</a:t>
                      </a: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55079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T2 Rooftop" pitchFamily="2" charset="0"/>
                        </a:rPr>
                        <a:t>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Индексация 2027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64075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latin typeface="T2 Rooftop" pitchFamily="2" charset="0"/>
                        </a:rPr>
                        <a:t>08.07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Ремонт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Убираем 300 рублевые офферы с анлимом из публики (изменение сроков)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12041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latin typeface="T2 Rooftop" pitchFamily="2" charset="0"/>
                        </a:rPr>
                        <a:t>До конца 2026 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Миграция на PCRF/</a:t>
                      </a:r>
                      <a:r>
                        <a:rPr lang="en-US" sz="1000" dirty="0">
                          <a:latin typeface="T2 Rooftop" pitchFamily="2" charset="0"/>
                        </a:rPr>
                        <a:t>PCEF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Идет миграция по регионам статиков. Ожидаем детальный план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973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rtl="0"/>
                      <a:r>
                        <a:rPr lang="ru-RU" sz="1000" dirty="0">
                          <a:latin typeface="T2 Rooftop" pitchFamily="2" charset="0"/>
                        </a:rPr>
                        <a:t>01.06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000" dirty="0">
                          <a:latin typeface="T2 Rooftop" pitchFamily="2" charset="0"/>
                        </a:rPr>
                        <a:t>Мидас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T2 Rooftop" pitchFamily="2" charset="0"/>
                        </a:rPr>
                        <a:t>B2B, B2G, БО исключаются из проекта;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Остаются в проекте B2C+Агенты (Нерезиденты); -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Заморожен до сентября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800" dirty="0">
                          <a:latin typeface="T2 Rooftop" pitchFamily="2" charset="0"/>
                        </a:rPr>
                        <a:t>15 Гб на иностранные интернет-ресурсы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488968"/>
                  </a:ext>
                </a:extLst>
              </a:tr>
              <a:tr h="9468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>
                          <a:latin typeface="T2 Rooftop" pitchFamily="2" charset="0"/>
                        </a:rPr>
                        <a:t>05.05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000" dirty="0">
                          <a:latin typeface="T2 Rooftop" pitchFamily="2" charset="0"/>
                        </a:rPr>
                        <a:t>Мухобойка и Воздух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Полная блокировка </a:t>
                      </a:r>
                      <a:r>
                        <a:rPr lang="ru-RU" sz="1000" dirty="0" err="1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иностр.роумеров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  в приграничных регионах (Брянск, Курск, Белгород Смоленск) на постоянной основе.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При пересечении границ этих регионов в глубь России -&gt; охлаждение на 24 часа, как возврат из-за границы;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dirty="0">
                        <a:latin typeface="T2 Rooftop" pitchFamily="2" charset="0"/>
                      </a:endParaRP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По команде "Воздух" - полная блокировка. (исключения - ряд АПН).   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Центрально в работе Пилот (в2с+в2в) - выход из блокировки на 12 часов при прохождении абонентом Капчи при подтвержденных ПД.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>
                          <a:latin typeface="T2 Rooftop" pitchFamily="2" charset="0"/>
                        </a:rPr>
                        <a:t>При отсутствии SIM в сети 72+ часа, блокируются SMS и интернет на 24 часа.</a:t>
                      </a:r>
                      <a:br>
                        <a:rPr lang="ru-RU" sz="800">
                          <a:latin typeface="T2 Rooftop" pitchFamily="2" charset="0"/>
                        </a:rPr>
                      </a:br>
                      <a:r>
                        <a:rPr lang="ru-RU" sz="800">
                          <a:latin typeface="T2 Rooftop" pitchFamily="2" charset="0"/>
                        </a:rPr>
                        <a:t>Исключения: B2G ФЗ-44 и M2M (кроме сервис-провайдеров/агрегаторов);</a:t>
                      </a:r>
                      <a:br>
                        <a:rPr lang="ru-RU" sz="800">
                          <a:latin typeface="T2 Rooftop" pitchFamily="2" charset="0"/>
                        </a:rPr>
                      </a:br>
                      <a:r>
                        <a:rPr lang="ru-RU" sz="800">
                          <a:latin typeface="T2 Rooftop" pitchFamily="2" charset="0"/>
                        </a:rPr>
                        <a:t>Блокировка автоматически снимается через 24 часа. Самостоятельно разблокировать можно на странице </a:t>
                      </a:r>
                      <a:r>
                        <a:rPr lang="ru-RU" sz="800">
                          <a:latin typeface="T2 Rooftop" pitchFamily="2" charset="0"/>
                          <a:hlinkClick r:id="rId6"/>
                        </a:rPr>
                        <a:t>t2.ru/dostup</a:t>
                      </a:r>
                      <a:r>
                        <a:rPr lang="ru-RU" sz="800">
                          <a:latin typeface="T2 Rooftop" pitchFamily="2" charset="0"/>
                        </a:rPr>
                        <a:t> или звонком на 620</a:t>
                      </a: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814631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err="1">
                          <a:latin typeface="T2 Rooftop" pitchFamily="2" charset="0"/>
                        </a:rPr>
                        <a:t>Upsale</a:t>
                      </a:r>
                      <a:r>
                        <a:rPr lang="ru-RU" sz="1000" dirty="0">
                          <a:latin typeface="T2 Rooftop" pitchFamily="2" charset="0"/>
                        </a:rPr>
                        <a:t> базы РТК ШПД B2B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000" dirty="0">
                          <a:latin typeface="T2 Rooftop" pitchFamily="2" charset="0"/>
                        </a:rPr>
                        <a:t>Необходимо проверить контактные данные, подготовить офферы в зависимости от сферы деятельности по ОКВЭД, обсудить с продажами внутри (1-3). Ждем лиды от РТК. Готовим подход с офферами.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800">
                          <a:latin typeface="T2 Rooftop" pitchFamily="2" charset="0"/>
                        </a:rPr>
                        <a:t>Потенциал база SOHO до 20 000</a:t>
                      </a: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182519"/>
                  </a:ext>
                </a:extLst>
              </a:tr>
              <a:tr h="143256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Электромобили Атом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000" dirty="0">
                          <a:latin typeface="T2 Rooftop" pitchFamily="2" charset="0"/>
                        </a:rPr>
                        <a:t>Запуск тарифных планов – май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Ожидаем брендированный ЛК от команды </a:t>
                      </a:r>
                      <a:r>
                        <a:rPr lang="ru-RU" sz="1000" noProof="1">
                          <a:latin typeface="T2 Rooftop" pitchFamily="2" charset="0"/>
                        </a:rPr>
                        <a:t>Digital </a:t>
                      </a:r>
                      <a:r>
                        <a:rPr lang="ru-RU" sz="1000" dirty="0">
                          <a:latin typeface="T2 Rooftop" pitchFamily="2" charset="0"/>
                        </a:rPr>
                        <a:t>(есть проблема с авторизацией через SMS (бортовой компьютер «Атома» – не может получать SMS)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800" dirty="0">
                          <a:latin typeface="T2 Rooftop" pitchFamily="2" charset="0"/>
                        </a:rPr>
                        <a:t>Дизайн ТП: Первые 3 года этот тариф за пользователя нам оплачивает автопроизводитель: выкупает сим-карты с балансом.</a:t>
                      </a:r>
                    </a:p>
                    <a:p>
                      <a:pPr rtl="0"/>
                      <a:r>
                        <a:rPr lang="ru-RU" sz="800" dirty="0">
                          <a:latin typeface="T2 Rooftop" pitchFamily="2" charset="0"/>
                        </a:rPr>
                        <a:t>Условия тарифа:</a:t>
                      </a:r>
                    </a:p>
                    <a:p>
                      <a:pPr rtl="0"/>
                      <a:r>
                        <a:rPr lang="ru-RU" sz="800" dirty="0">
                          <a:latin typeface="T2 Rooftop" pitchFamily="2" charset="0"/>
                        </a:rPr>
                        <a:t>(1) обязательный интернет-пакет стоимостью 70 руб./мес. для безлимитного доступа на: Яндекс Карты, навигацию, VK-музыку и мессенджер MAX.</a:t>
                      </a:r>
                    </a:p>
                    <a:p>
                      <a:pPr rtl="0"/>
                      <a:r>
                        <a:rPr lang="ru-RU" sz="800" dirty="0">
                          <a:latin typeface="T2 Rooftop" pitchFamily="2" charset="0"/>
                        </a:rPr>
                        <a:t>(2) интернет-пакет для самостоятельной докупки за 150 руб/мес: расширяет обязательный пакет безлимитным доступом к RuStore, интернет-радио и Wink.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806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8493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01517-70D3-F310-C4BE-533A00A97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19F17F3-1713-3DD5-F946-2EDD83776E4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01BFC0-D48C-41A8-A749-7EC961AD9D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22940C-7898-4E80-1B3A-55461F8C8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134471"/>
            <a:ext cx="10515600" cy="555531"/>
          </a:xfrm>
        </p:spPr>
        <p:txBody>
          <a:bodyPr vert="horz" rIns="91440">
            <a:noAutofit/>
          </a:bodyPr>
          <a:lstStyle/>
          <a:p>
            <a:r>
              <a:rPr lang="ru-RU" sz="3200" dirty="0">
                <a:latin typeface="T2 Halvar Breit ExtraBold" pitchFamily="2" charset="0"/>
              </a:rPr>
              <a:t>Продуктовый офис: </a:t>
            </a:r>
            <a:r>
              <a:rPr lang="en-US" sz="3200" dirty="0">
                <a:latin typeface="T2 Halvar Breit ExtraBold" pitchFamily="2" charset="0"/>
              </a:rPr>
              <a:t>CORE</a:t>
            </a:r>
            <a:endParaRPr lang="ru-RU" sz="3200" dirty="0">
              <a:latin typeface="T2 Halvar Breit ExtraBold" pitchFamily="2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3270204-375F-2388-4B43-96E058516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533412"/>
              </p:ext>
            </p:extLst>
          </p:nvPr>
        </p:nvGraphicFramePr>
        <p:xfrm>
          <a:off x="694764" y="943783"/>
          <a:ext cx="11031071" cy="5611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29236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389529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5836024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2976282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2448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сентябрь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МангоТелеком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Запуск партнерского продукта ВАТС Манго + Кора Т2 в 11 регионах до конца года. (ПИЛОТ).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Материалы для нашего SalesForce - Для разработки креативных материалов/POSM - ждем детали для брифа от Мартыненко и Гретченко.</a:t>
                      </a:r>
                      <a:endParaRPr lang="en-US" sz="1000" dirty="0">
                        <a:latin typeface="T2 Rooftop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Юристы прорабатывают 4 варианта реализации с соответствующими рисками. В зависимости от выбора, рассматривается вариант запуска в конце июля с сильно урезанным функционалом с последующим «догоном» по </a:t>
                      </a:r>
                      <a:r>
                        <a:rPr lang="en-US" sz="1000" dirty="0">
                          <a:latin typeface="T2 Rooftop" pitchFamily="2" charset="0"/>
                        </a:rPr>
                        <a:t>Agile.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601478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 rtl="0"/>
                      <a:r>
                        <a:rPr lang="ru-RU" sz="1000" dirty="0">
                          <a:latin typeface="T2 Rooftop" pitchFamily="2" charset="0"/>
                        </a:rPr>
                        <a:t>июль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Перенос прекращения попыток автоматического списания АП с 10 на 25 число по тарифам и услугам с 12-методом начисления АП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800" dirty="0">
                          <a:latin typeface="T2 Rooftop" pitchFamily="2" charset="0"/>
                        </a:rPr>
                        <a:t>Автоматические попытки списания АП производятся с 1 по 10 число, начиная с 11 числа, списание АП возможно через ЛК или ПМ/636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245647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 rtl="0"/>
                      <a:r>
                        <a:rPr lang="ru-RU" sz="1000" dirty="0">
                          <a:latin typeface="T2 Rooftop" pitchFamily="2" charset="0"/>
                        </a:rPr>
                        <a:t>28.07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Перезапуск линейки «Мой бизнес»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926821"/>
                  </a:ext>
                </a:extLst>
              </a:tr>
              <a:tr h="33480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Яндекс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Партнерство с «Яндекс 360»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Сдвиг тестирования на 22.06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T2 Rooftop" pitchFamily="2" charset="0"/>
                        </a:rPr>
                        <a:t>Линейка Яндекс 360 для бизнеса (почта, трекер, телемост, диск, мессенджер, вики и др.)</a:t>
                      </a:r>
                      <a:endParaRPr lang="en-US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550799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Агрегаторы (сервис провайдеры)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Тестируем варианты для перехода на схему продаж «агент-коллектор», а-ля </a:t>
                      </a:r>
                      <a:r>
                        <a:rPr lang="en-US" sz="1000" dirty="0">
                          <a:latin typeface="T2 Rooftop" pitchFamily="2" charset="0"/>
                        </a:rPr>
                        <a:t>light MVNO (</a:t>
                      </a:r>
                      <a:r>
                        <a:rPr lang="ru-RU" sz="1000" dirty="0">
                          <a:latin typeface="T2 Rooftop" pitchFamily="2" charset="0"/>
                        </a:rPr>
                        <a:t>ребилл). – в процессе. Со стороны Жени немного затормозился процесс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814631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30 дневное списание на 15 методе АП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Наблюдаем За проектом </a:t>
                      </a:r>
                      <a:r>
                        <a:rPr lang="en-US" sz="1000" dirty="0">
                          <a:latin typeface="T2 Rooftop" pitchFamily="2" charset="0"/>
                        </a:rPr>
                        <a:t>B2C,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делаем в </a:t>
                      </a:r>
                      <a:r>
                        <a:rPr lang="en-US" sz="1000" dirty="0">
                          <a:latin typeface="T2 Rooftop" pitchFamily="2" charset="0"/>
                        </a:rPr>
                        <a:t>B2B.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Возможный эффект до 50 млн. по году.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latin typeface="T2 Rooftop" pitchFamily="2" charset="0"/>
                        </a:rPr>
                        <a:t>Сейчас используется «плавающий месяц», списание в туже дату, что и смена ТП</a:t>
                      </a:r>
                      <a:endParaRPr lang="en-US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182519"/>
                  </a:ext>
                </a:extLst>
              </a:tr>
              <a:tr h="1432560"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Партнерство с «Т-Банк»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Фаза 1 – Обмен партнерскими офферами без интеграций на витринах (Свиридовская)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Фаза 2 – Возможно пойдем в интеграцию. Готовим концепт по интеграциям. Планируем провести после майских новые встречи.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НА выбор готовим 2 оффера,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Первый – Включение в </a:t>
                      </a:r>
                      <a:r>
                        <a:rPr lang="en-US" sz="1000" dirty="0">
                          <a:latin typeface="T2 Rooftop" pitchFamily="2" charset="0"/>
                        </a:rPr>
                        <a:t>MIXX B2B,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например включение в наш оффер с Яндексом, Касперским и трафиком и скидками на сервисы Т2 от Т-банка </a:t>
                      </a:r>
                      <a:r>
                        <a:rPr lang="en-US" sz="1000" dirty="0">
                          <a:latin typeface="T2 Rooftop" pitchFamily="2" charset="0"/>
                        </a:rPr>
                        <a:t>B2B </a:t>
                      </a:r>
                      <a:r>
                        <a:rPr lang="ru-RU" sz="1000" dirty="0">
                          <a:latin typeface="T2 Rooftop" pitchFamily="2" charset="0"/>
                        </a:rPr>
                        <a:t>сервисов: Онлайн-Бухгалтерия</a:t>
                      </a:r>
                      <a:r>
                        <a:rPr lang="en-US" sz="1000" dirty="0">
                          <a:latin typeface="T2 Rooftop" pitchFamily="2" charset="0"/>
                        </a:rPr>
                        <a:t> </a:t>
                      </a:r>
                      <a:r>
                        <a:rPr lang="ru-RU" sz="1000" dirty="0">
                          <a:latin typeface="T2 Rooftop" pitchFamily="2" charset="0"/>
                        </a:rPr>
                        <a:t>+</a:t>
                      </a:r>
                      <a:r>
                        <a:rPr lang="en-US" sz="1000" dirty="0">
                          <a:latin typeface="T2 Rooftop" pitchFamily="2" charset="0"/>
                        </a:rPr>
                        <a:t>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выделенный бухгалтер</a:t>
                      </a:r>
                      <a:r>
                        <a:rPr lang="en-US" sz="1000" dirty="0">
                          <a:latin typeface="T2 Rooftop" pitchFamily="2" charset="0"/>
                        </a:rPr>
                        <a:t> </a:t>
                      </a:r>
                      <a:r>
                        <a:rPr lang="ru-RU" sz="1000" dirty="0">
                          <a:latin typeface="T2 Rooftop" pitchFamily="2" charset="0"/>
                        </a:rPr>
                        <a:t>+</a:t>
                      </a:r>
                      <a:r>
                        <a:rPr lang="en-US" sz="1000" dirty="0">
                          <a:latin typeface="T2 Rooftop" pitchFamily="2" charset="0"/>
                        </a:rPr>
                        <a:t>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интернет эквайринг</a:t>
                      </a:r>
                      <a:r>
                        <a:rPr lang="en-US" sz="1000" dirty="0">
                          <a:latin typeface="T2 Rooftop" pitchFamily="2" charset="0"/>
                        </a:rPr>
                        <a:t> </a:t>
                      </a:r>
                      <a:r>
                        <a:rPr lang="ru-RU" sz="1000" dirty="0">
                          <a:latin typeface="T2 Rooftop" pitchFamily="2" charset="0"/>
                        </a:rPr>
                        <a:t>+</a:t>
                      </a:r>
                      <a:r>
                        <a:rPr lang="en-US" sz="1000" dirty="0">
                          <a:latin typeface="T2 Rooftop" pitchFamily="2" charset="0"/>
                        </a:rPr>
                        <a:t>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обычный эквайринг с кассой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Второй – предоставление скидки на продукты Т2, если в Т-Банке одновременно подключены определенные сервисы </a:t>
                      </a:r>
                      <a:r>
                        <a:rPr lang="en-US" sz="1000" dirty="0">
                          <a:latin typeface="T2 Rooftop" pitchFamily="2" charset="0"/>
                        </a:rPr>
                        <a:t>B2B.</a:t>
                      </a:r>
                      <a:r>
                        <a:rPr lang="ru-RU" sz="1000" dirty="0">
                          <a:latin typeface="T2 Rooftop" pitchFamily="2" charset="0"/>
                        </a:rPr>
                        <a:t>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en-US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806033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latin typeface="T2 Rooftop" pitchFamily="2" charset="0"/>
                        </a:rPr>
                        <a:t>TBD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Профи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072348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latin typeface="T2 Rooftop" pitchFamily="2" charset="0"/>
                        </a:rPr>
                        <a:t>TBD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2 Rooftop" pitchFamily="2" charset="0"/>
                        </a:rPr>
                        <a:t>Flash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443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107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12ED8-5AB0-E76E-7FEC-C7151AAE1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0F45E61-CE2C-9703-35DE-2486A8D4497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9F17F3-1713-3DD5-F946-2EDD83776E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124493-33B0-584B-B83C-E830C696B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134471"/>
            <a:ext cx="10515600" cy="555531"/>
          </a:xfrm>
        </p:spPr>
        <p:txBody>
          <a:bodyPr vert="horz" rIns="91440">
            <a:noAutofit/>
          </a:bodyPr>
          <a:lstStyle/>
          <a:p>
            <a:r>
              <a:rPr lang="ru-RU" sz="3200" dirty="0">
                <a:latin typeface="T2 Halvar Breit ExtraBold" pitchFamily="2" charset="0"/>
              </a:rPr>
              <a:t>Продуктовый офис: </a:t>
            </a:r>
            <a:r>
              <a:rPr lang="en-US" sz="3200" dirty="0">
                <a:latin typeface="T2 Halvar Breit ExtraBold" pitchFamily="2" charset="0"/>
              </a:rPr>
              <a:t>CORE</a:t>
            </a:r>
            <a:endParaRPr lang="ru-RU" sz="3200" dirty="0">
              <a:latin typeface="T2 Halvar Breit ExtraBold" pitchFamily="2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1CD154D4-9F76-5991-B0AD-66B663E92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994772"/>
              </p:ext>
            </p:extLst>
          </p:nvPr>
        </p:nvGraphicFramePr>
        <p:xfrm>
          <a:off x="694764" y="943783"/>
          <a:ext cx="11031071" cy="55046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29236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389529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5836024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2976282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2448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июль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>
                          <a:effectLst/>
                          <a:latin typeface="T2 Rooftop" pitchFamily="2" charset="0"/>
                        </a:rPr>
                        <a:t>Акция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Запуск акции для абонентов программы Бизнес-окружение в МР Северо-запад (кроме СПб):</a:t>
                      </a:r>
                    </a:p>
                    <a:p>
                      <a:pPr algn="l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При подключении красивый номер в подарок</a:t>
                      </a:r>
                    </a:p>
                    <a:p>
                      <a:pPr algn="l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+доп. мотивация для сотрудников </a:t>
                      </a:r>
                      <a:r>
                        <a:rPr lang="ru-RU" sz="1000" dirty="0" err="1">
                          <a:effectLst/>
                          <a:latin typeface="T2 Rooftop" pitchFamily="2" charset="0"/>
                        </a:rPr>
                        <a:t>монобрендов</a:t>
                      </a: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 на подключение БО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br>
                        <a:rPr lang="ru-RU" sz="800" dirty="0">
                          <a:effectLst/>
                          <a:latin typeface="T2 Rooftop" pitchFamily="2" charset="0"/>
                        </a:rPr>
                      </a:br>
                      <a:endParaRPr lang="ru-RU" sz="800" dirty="0">
                        <a:effectLst/>
                        <a:latin typeface="T2 Rooftop" pitchFamily="2" charset="0"/>
                      </a:endParaRP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1313601478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Август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 err="1">
                          <a:effectLst/>
                          <a:latin typeface="T2 Rooftop" pitchFamily="2" charset="0"/>
                        </a:rPr>
                        <a:t>Wink</a:t>
                      </a:r>
                      <a:endParaRPr lang="ru-RU" sz="1000" dirty="0">
                        <a:effectLst/>
                        <a:latin typeface="T2 Rooftop" pitchFamily="2" charset="0"/>
                      </a:endParaRP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Реализация подписок для В2В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800" dirty="0">
                          <a:effectLst/>
                          <a:latin typeface="T2 Rooftop" pitchFamily="2" charset="0"/>
                        </a:rPr>
                        <a:t>С учетом того, что есть задача убрать подписку </a:t>
                      </a:r>
                      <a:r>
                        <a:rPr lang="ru-RU" sz="800" dirty="0" err="1">
                          <a:effectLst/>
                          <a:latin typeface="T2 Rooftop" pitchFamily="2" charset="0"/>
                        </a:rPr>
                        <a:t>Wink</a:t>
                      </a:r>
                      <a:r>
                        <a:rPr lang="ru-RU" sz="800" dirty="0">
                          <a:effectLst/>
                          <a:latin typeface="T2 Rooftop" pitchFamily="2" charset="0"/>
                        </a:rPr>
                        <a:t> из состава тарифных планов (архивные линейки "Мой бизнес" и "Федеральный"), есть потребность в реализации отдельных </a:t>
                      </a:r>
                      <a:r>
                        <a:rPr lang="ru-RU" sz="800" dirty="0" err="1">
                          <a:effectLst/>
                          <a:latin typeface="T2 Rooftop" pitchFamily="2" charset="0"/>
                        </a:rPr>
                        <a:t>Standalone</a:t>
                      </a:r>
                      <a:r>
                        <a:rPr lang="ru-RU" sz="800" dirty="0">
                          <a:effectLst/>
                          <a:latin typeface="T2 Rooftop" pitchFamily="2" charset="0"/>
                        </a:rPr>
                        <a:t>-подписок для В2В абонентов.</a:t>
                      </a: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3983245647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Август/ Сентябрь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Запуск нового региона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>
                          <a:effectLst/>
                          <a:latin typeface="T2 Rooftop" pitchFamily="2" charset="0"/>
                        </a:rPr>
                        <a:t>Запуск В2В портфеля в Горно-Алтайске (Core + VAS)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800" dirty="0">
                          <a:effectLst/>
                          <a:latin typeface="T2 Rooftop" pitchFamily="2" charset="0"/>
                        </a:rPr>
                        <a:t>Поддержка тендерного сезона в регионах Сибири. Запуск тарифной линейки публичной и непубличной + VAS -сервисов. ЗНИ по проекту заведено. Требуется выделение ресурсов со стороны ОРП.</a:t>
                      </a: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486926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000">
                          <a:effectLst/>
                          <a:latin typeface="T2 Rooftop" pitchFamily="2" charset="0"/>
                        </a:rPr>
                        <a:t>Сентябрь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 err="1">
                          <a:effectLst/>
                          <a:latin typeface="T2 Rooftop" pitchFamily="2" charset="0"/>
                        </a:rPr>
                        <a:t>MiXX</a:t>
                      </a:r>
                      <a:endParaRPr lang="ru-RU" sz="1000" dirty="0">
                        <a:effectLst/>
                        <a:latin typeface="T2 Rooftop" pitchFamily="2" charset="0"/>
                      </a:endParaRP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Перезапуск действующей линейки В2С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800" dirty="0">
                          <a:effectLst/>
                          <a:latin typeface="T2 Rooftop" pitchFamily="2" charset="0"/>
                        </a:rPr>
                        <a:t>Перезапуск </a:t>
                      </a:r>
                      <a:r>
                        <a:rPr lang="ru-RU" sz="800" dirty="0" err="1">
                          <a:effectLst/>
                          <a:latin typeface="T2 Rooftop" pitchFamily="2" charset="0"/>
                        </a:rPr>
                        <a:t>действущей</a:t>
                      </a:r>
                      <a:r>
                        <a:rPr lang="ru-RU" sz="800" dirty="0">
                          <a:effectLst/>
                          <a:latin typeface="T2 Rooftop" pitchFamily="2" charset="0"/>
                        </a:rPr>
                        <a:t> подписки + появление новых партнеров. В2В абоненты (тарифы на которых доступна подписка) тоже участвуют. Новых ограничений для нас нет.</a:t>
                      </a: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2550550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май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ИТП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Газпром межрегионгаз (разные регионы)</a:t>
                      </a:r>
                      <a:endParaRPr lang="en-US" sz="1000" dirty="0">
                        <a:effectLst/>
                        <a:latin typeface="T2 Rooftop" pitchFamily="2" charset="0"/>
                      </a:endParaRPr>
                    </a:p>
                    <a:p>
                      <a:pPr algn="l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Н. Новгород - доп. 10 тыс.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RU" sz="800" kern="1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ИТП: М2М (счетчики)</a:t>
                      </a:r>
                      <a:endParaRPr lang="ru-RU" sz="800" kern="100" dirty="0">
                        <a:effectLst/>
                        <a:latin typeface="T2 Rooftop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RU" sz="800" kern="1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 Мб = 3 руб. без НДС</a:t>
                      </a:r>
                      <a:endParaRPr lang="ru-RU" sz="800" kern="100" dirty="0">
                        <a:effectLst/>
                        <a:latin typeface="T2 Rooftop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RU" sz="800" kern="1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Линейка общих пакетов</a:t>
                      </a:r>
                      <a:endParaRPr lang="ru-RU" sz="800" kern="100" dirty="0">
                        <a:effectLst/>
                        <a:latin typeface="T2 Rooftop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RU" sz="800" kern="1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Направлено клиенту. На рассмотрении.</a:t>
                      </a:r>
                      <a:endParaRPr lang="ru-RU" sz="800" kern="100" dirty="0">
                        <a:effectLst/>
                        <a:latin typeface="T2 Rooftop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2418814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000">
                          <a:effectLst/>
                          <a:latin typeface="T2 Rooftop" pitchFamily="2" charset="0"/>
                        </a:rPr>
                        <a:t>июнь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ИТП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"М2М Сервис" (трекеры для автомобилей) (Смоленск).</a:t>
                      </a:r>
                      <a:endParaRPr lang="en-US" sz="1000" dirty="0">
                        <a:effectLst/>
                        <a:latin typeface="T2 Rooftop" pitchFamily="2" charset="0"/>
                      </a:endParaRPr>
                    </a:p>
                    <a:p>
                      <a:pPr algn="l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Потенциал ~ 5 тыс.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RU" sz="800" kern="10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ИТП - аналог "Роуминг для машин" (но с ежемесячной АП</a:t>
                      </a:r>
                      <a:endParaRPr lang="ru-RU" sz="800" kern="100">
                        <a:effectLst/>
                        <a:latin typeface="T2 Rooftop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RU" sz="800" kern="10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60 мб за 20 руб.</a:t>
                      </a:r>
                      <a:endParaRPr lang="ru-RU" sz="800" kern="100">
                        <a:effectLst/>
                        <a:latin typeface="T2 Rooftop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RU" sz="800" kern="10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Оцениваем возможность реализации.</a:t>
                      </a:r>
                      <a:endParaRPr lang="ru-RU" sz="800" kern="100">
                        <a:effectLst/>
                        <a:latin typeface="T2 Rooftop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3501182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000">
                          <a:effectLst/>
                          <a:latin typeface="T2 Rooftop" pitchFamily="2" charset="0"/>
                        </a:rPr>
                        <a:t>с июня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ИТП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Россети (Москва выиграла тендер)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RU" sz="800" kern="1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Перевод текущих абонентов в регионах (МР Черноземье и </a:t>
                      </a:r>
                      <a:r>
                        <a:rPr lang="ru-RU" sz="800" kern="100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др</a:t>
                      </a:r>
                      <a:r>
                        <a:rPr lang="ru-RU" sz="800" kern="1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)  на новые условия с потенциалом доп. подключения </a:t>
                      </a:r>
                      <a:r>
                        <a:rPr lang="ru-RU" sz="800" kern="100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Sim</a:t>
                      </a:r>
                      <a:r>
                        <a:rPr lang="ru-RU" sz="800" kern="1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в других МР.</a:t>
                      </a:r>
                      <a:endParaRPr lang="ru-RU" sz="800" kern="100" dirty="0">
                        <a:effectLst/>
                        <a:latin typeface="T2 Rooftop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4161806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ru-RU" sz="1000" dirty="0">
                        <a:effectLst/>
                        <a:latin typeface="T2 Rooftop" pitchFamily="2" charset="0"/>
                      </a:endParaRP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ИТП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КП для БО Россети центр, потенциал до 200 000 сотрудников</a:t>
                      </a:r>
                    </a:p>
                    <a:p>
                      <a:pPr marL="0" marR="0" indent="0" algn="l" defTabSz="914400" rtl="0" eaLnBrk="1" fontAlgn="t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3 пакетных ТП (от 240 до 340р) и 5 интернет услуг 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800" kern="100" dirty="0">
                        <a:effectLst/>
                        <a:latin typeface="T2 Rooftop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1293406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364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8971-929C-DC40-B0F3-1145185A9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9FF3E51-2CFC-9C63-A7D8-AF94DD8484D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F45E61-CE2C-9703-35DE-2486A8D449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AA7CAC-8119-7824-B11D-37FC7B79D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134471"/>
            <a:ext cx="10515600" cy="555531"/>
          </a:xfrm>
        </p:spPr>
        <p:txBody>
          <a:bodyPr vert="horz" rIns="91440">
            <a:noAutofit/>
          </a:bodyPr>
          <a:lstStyle/>
          <a:p>
            <a:r>
              <a:rPr lang="ru-RU" sz="3200" dirty="0">
                <a:latin typeface="T2 Halvar Breit ExtraBold" pitchFamily="2" charset="0"/>
              </a:rPr>
              <a:t>Продуктовый офис: </a:t>
            </a:r>
            <a:r>
              <a:rPr lang="en-US" sz="3200" dirty="0">
                <a:latin typeface="T2 Halvar Breit ExtraBold" pitchFamily="2" charset="0"/>
              </a:rPr>
              <a:t>CORE</a:t>
            </a:r>
            <a:endParaRPr lang="ru-RU" sz="3200" dirty="0">
              <a:latin typeface="T2 Halvar Breit ExtraBold" pitchFamily="2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EDA4D71B-436B-D6F8-810D-B2AE082B6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783951"/>
              </p:ext>
            </p:extLst>
          </p:nvPr>
        </p:nvGraphicFramePr>
        <p:xfrm>
          <a:off x="694764" y="943783"/>
          <a:ext cx="11031071" cy="17886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29236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389529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5836024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2976282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2448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июнь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ИТП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Тендер Черкизово (LA)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RU" sz="800" kern="10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Запрос на предоставление ИТП для участия в тендере (голос +М2М)</a:t>
                      </a:r>
                      <a:endParaRPr lang="ru-RU" sz="800" kern="100">
                        <a:effectLst/>
                        <a:latin typeface="T2 Rooftop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RU" sz="800" kern="10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Потенциал 8 000 номеров.</a:t>
                      </a:r>
                      <a:endParaRPr lang="ru-RU" sz="800" kern="100">
                        <a:effectLst/>
                        <a:latin typeface="T2 Rooftop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RU" sz="800" kern="10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Присутсвие в 27 регионах.</a:t>
                      </a:r>
                      <a:endParaRPr lang="ru-RU" sz="800" kern="100">
                        <a:effectLst/>
                        <a:latin typeface="T2 Rooftop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1313601478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000">
                          <a:effectLst/>
                          <a:latin typeface="T2 Rooftop" pitchFamily="2" charset="0"/>
                        </a:rPr>
                        <a:t>июнь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ИТП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00"/>
                        </a:lnSpc>
                        <a:buNone/>
                      </a:pPr>
                      <a:r>
                        <a:rPr lang="ru-RU" sz="1000" dirty="0">
                          <a:effectLst/>
                          <a:latin typeface="T2 Rooftop" pitchFamily="2" charset="0"/>
                        </a:rPr>
                        <a:t>ИТП для Х5 Доставка (Магнит) (LA)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RU" sz="800" kern="1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ИТП для курьеров сети Магнит (согласовано в </a:t>
                      </a:r>
                      <a:r>
                        <a:rPr lang="ru-RU" sz="800" kern="100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апереле</a:t>
                      </a:r>
                      <a:r>
                        <a:rPr lang="ru-RU" sz="800" kern="1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2026):</a:t>
                      </a:r>
                      <a:endParaRPr lang="ru-RU" sz="800" kern="100" dirty="0">
                        <a:effectLst/>
                        <a:latin typeface="T2 Rooftop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RU" sz="800" kern="1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Федеральный М за 200 руб. + удвоение</a:t>
                      </a:r>
                      <a:endParaRPr lang="ru-RU" sz="800" kern="100" dirty="0">
                        <a:effectLst/>
                        <a:latin typeface="T2 Rooftop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RU" sz="800" kern="1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Федеральный </a:t>
                      </a:r>
                      <a:r>
                        <a:rPr lang="ru-RU" sz="800" kern="100" dirty="0" err="1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ru-RU" sz="800" kern="1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за 300 руб. + безлимитный интернет</a:t>
                      </a:r>
                      <a:endParaRPr lang="ru-RU" sz="800" kern="100" dirty="0">
                        <a:effectLst/>
                        <a:latin typeface="T2 Rooftop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RU" sz="800" kern="100" dirty="0">
                          <a:solidFill>
                            <a:srgbClr val="000000"/>
                          </a:solidFill>
                          <a:effectLst/>
                          <a:latin typeface="T2 Rooftop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Будет разработан отдельный лэндинг с предложением для клиентов) + USSD-команды</a:t>
                      </a:r>
                      <a:endParaRPr lang="ru-RU" sz="800" kern="100" dirty="0">
                        <a:effectLst/>
                        <a:latin typeface="T2 Rooftop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3983245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292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E9804-B56E-36A9-BCD7-B234D33CE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316EB50-C019-58F7-0A81-F64F7C1D441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1FA807-C080-224A-691C-FDC3E33DDB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1D3044-7D86-3543-A3A0-EB2D2037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134471"/>
            <a:ext cx="11156576" cy="555531"/>
          </a:xfrm>
        </p:spPr>
        <p:txBody>
          <a:bodyPr vert="horz" rIns="91440">
            <a:noAutofit/>
          </a:bodyPr>
          <a:lstStyle/>
          <a:p>
            <a:r>
              <a:rPr lang="ru-RU" sz="3200" dirty="0">
                <a:latin typeface="T2 Halvar Breit ExtraBold" pitchFamily="2" charset="0"/>
              </a:rPr>
              <a:t>Продуктовый офис: Продуктовый маркетинг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2FA3465-EA5B-88A1-6134-8AF78E538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904616"/>
              </p:ext>
            </p:extLst>
          </p:nvPr>
        </p:nvGraphicFramePr>
        <p:xfrm>
          <a:off x="694764" y="943783"/>
          <a:ext cx="11031071" cy="4546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6812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470212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5163671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3460376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ru-RU" sz="1000" dirty="0">
                          <a:latin typeface="T2 Rooftop" pitchFamily="2" charset="0"/>
                        </a:rPr>
                        <a:t>Июнь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000" dirty="0">
                          <a:latin typeface="T2 Rooftop" pitchFamily="2" charset="0"/>
                        </a:rPr>
                        <a:t>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000" dirty="0">
                          <a:latin typeface="T2 Rooftop" pitchFamily="2" charset="0"/>
                        </a:rPr>
                        <a:t>BHT B2B 2026 -  </a:t>
                      </a:r>
                      <a:r>
                        <a:rPr lang="ru-RU" sz="1000" noProof="1">
                          <a:latin typeface="T2 Rooftop" pitchFamily="2" charset="0"/>
                        </a:rPr>
                        <a:t>в работе 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Регулярные замеры ключевых показателей, влияющих на бизнес, по T2 и ключевым конкурентам: Big3 + ключевые конкуренты в VAS. Выявить маркетинговые показатели и имиджевые характеристики, наиболее значимо влияющие на бизнес – показатели для , а также имиджевые дифференциаторы.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653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000" dirty="0">
                          <a:latin typeface="T2 Rooftop" pitchFamily="2" charset="0"/>
                        </a:rPr>
                        <a:t>Стратегия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Коммуникационная стратегия продвижения на 2027 год – начинаем готовить, первый концепт –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май 2026.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aseline="0" dirty="0">
                          <a:solidFill>
                            <a:schemeClr val="tx1"/>
                          </a:solidFill>
                          <a:latin typeface="T2 Rooftop" pitchFamily="2" charset="0"/>
                        </a:rPr>
                        <a:t>Основная материал в виде презентации для согласования маркетингового бюджета на 2027 год</a:t>
                      </a:r>
                      <a:endParaRPr lang="ru-RU" sz="800" dirty="0">
                        <a:solidFill>
                          <a:schemeClr val="tx1"/>
                        </a:solidFill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090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SEO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Выходим на тендер на 27 год, закладываем B2B к себе в бюджет 12 млн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Прорабатываем усиление на 2026 год. ориентируемся на бюджет 5-6 млн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Увеличение органического трафика на сайтах/</a:t>
                      </a:r>
                      <a:r>
                        <a:rPr lang="ru-RU" sz="800">
                          <a:latin typeface="T2 Rooftop" pitchFamily="2" charset="0"/>
                        </a:rPr>
                        <a:t>страницах B2B, </a:t>
                      </a:r>
                      <a:r>
                        <a:rPr lang="ru-RU" sz="800" dirty="0">
                          <a:latin typeface="T2 Rooftop" pitchFamily="2" charset="0"/>
                        </a:rPr>
                        <a:t>рост заявок, снижение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 стоимости маркетинговых метрик</a:t>
                      </a: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32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PR/BTL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Ожидание нового плана исходя из реалий бюджета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43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Сквозная аналитика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Произведена переработка метода для передачи лидов с сайта в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сторонe</a:t>
                      </a:r>
                      <a:r>
                        <a:rPr lang="ru-RU" sz="1000" dirty="0">
                          <a:latin typeface="T2 Rooftop" pitchFamily="2" charset="0"/>
                        </a:rPr>
                        <a:t> CRM. – идет приемка фазы 1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Доработки на стороне Digital на всех страницах сайта для перехода на новый метод (отгрузка 16.06.26)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Разработка «песочниц» в контуре Т2 для построения аналитики, затраты для В2С и В2В ~300 млн.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800" dirty="0">
                          <a:latin typeface="T2 Rooftop" pitchFamily="2" charset="0"/>
                        </a:rPr>
                        <a:t>Доработка метода позволит устранить потери в получении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 заявок сайта, устранить баги, скорректировать маршрутизацию. Позволит видеть оцифрованный путь лида до создания сделки </a:t>
                      </a:r>
                      <a:r>
                        <a:rPr lang="ru-RU" sz="800" baseline="0">
                          <a:latin typeface="T2 Rooftop" pitchFamily="2" charset="0"/>
                        </a:rPr>
                        <a:t>в CRM.</a:t>
                      </a:r>
                      <a:endParaRPr lang="ru-RU" sz="800" baseline="0" dirty="0">
                        <a:latin typeface="T2 Rooftop" pitchFamily="2" charset="0"/>
                      </a:endParaRPr>
                    </a:p>
                    <a:p>
                      <a:pPr rtl="0"/>
                      <a:r>
                        <a:rPr lang="ru-RU" sz="800" dirty="0">
                          <a:latin typeface="T2 Rooftop" pitchFamily="2" charset="0"/>
                        </a:rPr>
                        <a:t>Разработка «песочниц»  позволит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 получить полную и разностороннюю сквозную аналитику с маркетинговыми</a:t>
                      </a:r>
                      <a:r>
                        <a:rPr lang="ru-RU" sz="800" baseline="0">
                          <a:latin typeface="T2 Rooftop" pitchFamily="2" charset="0"/>
                        </a:rPr>
                        <a:t>, sales 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и продуктовыми данными.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628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Мониторинг отправки заявок в CRM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000" dirty="0">
                          <a:latin typeface="T2 Rooftop" pitchFamily="2" charset="0"/>
                        </a:rPr>
                        <a:t>Доработки на стороне мониторинга. </a:t>
                      </a:r>
                    </a:p>
                    <a:p>
                      <a:pPr rtl="0"/>
                      <a:r>
                        <a:rPr lang="ru-RU" sz="1000" dirty="0">
                          <a:latin typeface="T2 Rooftop" pitchFamily="2" charset="0"/>
                        </a:rPr>
                        <a:t>Ожидаем сроки реализации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На базе сервиса </a:t>
                      </a:r>
                      <a:r>
                        <a:rPr lang="ru-RU" sz="800" dirty="0" err="1">
                          <a:latin typeface="T2 Rooftop" pitchFamily="2" charset="0"/>
                        </a:rPr>
                        <a:t>Графана</a:t>
                      </a:r>
                      <a:r>
                        <a:rPr lang="ru-RU" sz="800" dirty="0">
                          <a:latin typeface="T2 Rooftop" pitchFamily="2" charset="0"/>
                        </a:rPr>
                        <a:t> будем отслеживать сбой и баги в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 работе основных функционалов сайта.</a:t>
                      </a: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13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Редизайн главной страницы сайта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Ожидаем</a:t>
                      </a:r>
                      <a:r>
                        <a:rPr lang="ru-RU" sz="1000" baseline="0" dirty="0">
                          <a:latin typeface="T2 Rooftop" pitchFamily="2" charset="0"/>
                        </a:rPr>
                        <a:t> скорректированные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макеты от Digital.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Перерабатываем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 структуру главной страницы с усилением </a:t>
                      </a:r>
                      <a:r>
                        <a:rPr lang="ru-RU" sz="800" baseline="0">
                          <a:latin typeface="T2 Rooftop" pitchFamily="2" charset="0"/>
                        </a:rPr>
                        <a:t>позиционирования VAS 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и сервисов для бизнеса</a:t>
                      </a: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18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000" dirty="0" err="1">
                          <a:latin typeface="T2 Rooftop" pitchFamily="2" charset="0"/>
                        </a:rPr>
                        <a:t>Флайт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000" dirty="0">
                          <a:latin typeface="T2 Rooftop" pitchFamily="2" charset="0"/>
                        </a:rPr>
                        <a:t>Осень – продвижение Umnico </a:t>
                      </a:r>
                      <a:r>
                        <a:rPr lang="ru-RU" sz="1000" dirty="0">
                          <a:highlight>
                            <a:srgbClr val="FFFF00"/>
                          </a:highlight>
                          <a:latin typeface="T2 Rooftop" pitchFamily="2" charset="0"/>
                        </a:rPr>
                        <a:t>(без изменений)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latin typeface="T2 Rooftop" pitchFamily="2" charset="0"/>
                        </a:rPr>
                        <a:t>Рост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 </a:t>
                      </a:r>
                      <a:r>
                        <a:rPr lang="ru-RU" sz="800" baseline="0" dirty="0" err="1">
                          <a:latin typeface="T2 Rooftop" pitchFamily="2" charset="0"/>
                        </a:rPr>
                        <a:t>brand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 </a:t>
                      </a:r>
                      <a:r>
                        <a:rPr lang="ru-RU" sz="800" baseline="0" dirty="0" err="1">
                          <a:latin typeface="T2 Rooftop" pitchFamily="2" charset="0"/>
                        </a:rPr>
                        <a:t>awareness</a:t>
                      </a:r>
                      <a:r>
                        <a:rPr lang="ru-RU" sz="800" baseline="0" dirty="0">
                          <a:latin typeface="T2 Rooftop" pitchFamily="2" charset="0"/>
                        </a:rPr>
                        <a:t> B2B T2, увеличение продаж по продукту Umnico</a:t>
                      </a:r>
                      <a:endParaRPr lang="ru-RU" sz="800" dirty="0">
                        <a:latin typeface="T2 Rooftop" pitchFamily="2" charset="0"/>
                      </a:endParaRPr>
                    </a:p>
                    <a:p>
                      <a:pPr rtl="0"/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063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218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A7426-1BF1-83C9-3074-38166D378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7CD68C2-FFD8-6BD4-2705-300A4F00E72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7772400" imgH="10058400" progId="TCLayout.ActiveDocument.1">
                  <p:embed/>
                </p:oleObj>
              </mc:Choice>
              <mc:Fallback>
                <p:oleObj name="Слайд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16EB50-C019-58F7-0A81-F64F7C1D44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D73BCB-E9CD-730F-29F9-84484E2A1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134471"/>
            <a:ext cx="11156576" cy="555531"/>
          </a:xfrm>
        </p:spPr>
        <p:txBody>
          <a:bodyPr vert="horz" rIns="91440">
            <a:noAutofit/>
          </a:bodyPr>
          <a:lstStyle/>
          <a:p>
            <a:r>
              <a:rPr lang="ru-RU" sz="3200">
                <a:latin typeface="T2 Halvar Breit ExtraBold" pitchFamily="2" charset="0"/>
              </a:rPr>
              <a:t>Продуктовый офис: Продуктовый маркетинг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E4FC14D-1D50-9091-72DF-5EF80645B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44595"/>
              </p:ext>
            </p:extLst>
          </p:nvPr>
        </p:nvGraphicFramePr>
        <p:xfrm>
          <a:off x="694764" y="943783"/>
          <a:ext cx="11031071" cy="4851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6812">
                  <a:extLst>
                    <a:ext uri="{9D8B030D-6E8A-4147-A177-3AD203B41FA5}">
                      <a16:colId xmlns:a16="http://schemas.microsoft.com/office/drawing/2014/main" val="643601428"/>
                    </a:ext>
                  </a:extLst>
                </a:gridCol>
                <a:gridCol w="1470212">
                  <a:extLst>
                    <a:ext uri="{9D8B030D-6E8A-4147-A177-3AD203B41FA5}">
                      <a16:colId xmlns:a16="http://schemas.microsoft.com/office/drawing/2014/main" val="353378822"/>
                    </a:ext>
                  </a:extLst>
                </a:gridCol>
                <a:gridCol w="5163671">
                  <a:extLst>
                    <a:ext uri="{9D8B030D-6E8A-4147-A177-3AD203B41FA5}">
                      <a16:colId xmlns:a16="http://schemas.microsoft.com/office/drawing/2014/main" val="3723860963"/>
                    </a:ext>
                  </a:extLst>
                </a:gridCol>
                <a:gridCol w="3460376">
                  <a:extLst>
                    <a:ext uri="{9D8B030D-6E8A-4147-A177-3AD203B41FA5}">
                      <a16:colId xmlns:a16="http://schemas.microsoft.com/office/drawing/2014/main" val="1180705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kern="1200" dirty="0" err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Toolkit</a:t>
                      </a:r>
                      <a:endParaRPr lang="ru-RU" sz="1000" kern="1200" dirty="0">
                        <a:solidFill>
                          <a:schemeClr val="dk1"/>
                        </a:solidFill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Обновление </a:t>
                      </a:r>
                      <a:r>
                        <a:rPr lang="ru-RU" sz="1000" kern="1200" dirty="0" err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тулкита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 - услуги, мероприятия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Подготовка полного </a:t>
                      </a:r>
                      <a:r>
                        <a:rPr lang="ru-RU" sz="1000" kern="1200" dirty="0" err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тулкита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 для 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Umnico, CLOUD,  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Аренда ЦОД (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Colocation)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МАНГО+Т2- полный </a:t>
                      </a:r>
                      <a:r>
                        <a:rPr lang="ru-RU" sz="1000" kern="1200" dirty="0" err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тулкит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 (ждем дополненное инфо от продукта)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Подготовка </a:t>
                      </a:r>
                      <a:r>
                        <a:rPr lang="ru-RU" sz="1000" kern="1200" dirty="0" err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тулкита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 для агентского канала (обновление и переработка), </a:t>
                      </a:r>
                      <a:b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</a:b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презентации+ листовки и стойки для мероприятий (при участии трейда)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подготовка слайда по 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MIXX 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В2В для общего КП; 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плакаты для БО под мероприятия; 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буклет для 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SMST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Digital-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реклама, переработка КП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ревью и переработка  всех </a:t>
                      </a:r>
                      <a:r>
                        <a:rPr lang="ru-RU" sz="1000" kern="1200" dirty="0" err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ванпейджей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 по продуктам</a:t>
                      </a:r>
                      <a:b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</a:b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апдейт списка мероприятий совместно с маркетингом и Борель Н. (запланирована встреча)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ru-RU" sz="800" kern="1200" dirty="0">
                        <a:solidFill>
                          <a:schemeClr val="dk1"/>
                        </a:solidFill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701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POSM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Обновление POSM-материалов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Запланированы встречи с каждым  продуктовым офисом для апдейта 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POSM, 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потребности + </a:t>
                      </a:r>
                      <a:r>
                        <a:rPr lang="ru-RU" sz="1000" kern="1200" dirty="0" err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роадмап</a:t>
                      </a:r>
                      <a:endParaRPr lang="ru-RU" sz="1000" kern="1200" dirty="0">
                        <a:solidFill>
                          <a:schemeClr val="dk1"/>
                        </a:solidFill>
                        <a:latin typeface="T2 Rooftop" pitchFamily="2" charset="0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апдейт ресурсов и размещения </a:t>
                      </a:r>
                      <a:r>
                        <a:rPr lang="ru-RU" sz="1000" kern="1200" dirty="0" err="1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марткеинговых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 материалов (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SP,  WIKI, KMS)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подготовка общего гайда по маркетинговым материалам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запланирована встреча с трейдом для апдейта возможностей заказа 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POSM 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T2 Rooftop" pitchFamily="2" charset="0"/>
                          <a:ea typeface="+mn-ea"/>
                          <a:cs typeface="+mn-cs"/>
                        </a:rPr>
                        <a:t>для печати в регионах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ru-RU" sz="800" kern="1200" dirty="0">
                        <a:solidFill>
                          <a:schemeClr val="dk1"/>
                        </a:solidFill>
                        <a:latin typeface="T2 Rooftop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99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00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❗️</a:t>
                      </a:r>
                      <a:r>
                        <a:rPr lang="ru-RU" sz="1000" dirty="0">
                          <a:latin typeface="T2 Rooftop" pitchFamily="2" charset="0"/>
                        </a:rPr>
                        <a:t>Контроль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T2 Rooftop" pitchFamily="2" charset="0"/>
                        </a:rPr>
                        <a:t>Обновить график по заявкам:</a:t>
                      </a:r>
                    </a:p>
                    <a:p>
                      <a:r>
                        <a:rPr lang="ru-RU" sz="1000" dirty="0">
                          <a:latin typeface="T2 Rooftop" pitchFamily="2" charset="0"/>
                        </a:rPr>
                        <a:t>Заявки помесячно и заявки понедельно, сравнение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Y</a:t>
                      </a:r>
                      <a:r>
                        <a:rPr lang="en-US" sz="1000" dirty="0" err="1">
                          <a:latin typeface="T2 Rooftop" pitchFamily="2" charset="0"/>
                        </a:rPr>
                        <a:t>tY</a:t>
                      </a:r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800" dirty="0"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653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000" dirty="0">
                        <a:latin typeface="T2 Rooftop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❗️</a:t>
                      </a:r>
                      <a:r>
                        <a:rPr lang="ru-RU" sz="1000" dirty="0">
                          <a:latin typeface="T2 Rooftop" pitchFamily="2" charset="0"/>
                        </a:rPr>
                        <a:t>Контроль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2 Rooftop" pitchFamily="2" charset="0"/>
                        </a:rPr>
                        <a:t>Total </a:t>
                      </a:r>
                      <a:r>
                        <a:rPr lang="ru-RU" sz="1000" dirty="0">
                          <a:latin typeface="T2 Rooftop" pitchFamily="2" charset="0"/>
                        </a:rPr>
                        <a:t>воронки по </a:t>
                      </a:r>
                      <a:r>
                        <a:rPr lang="ru-RU" sz="1000" dirty="0" err="1">
                          <a:latin typeface="T2 Rooftop" pitchFamily="2" charset="0"/>
                        </a:rPr>
                        <a:t>Umn</a:t>
                      </a:r>
                      <a:r>
                        <a:rPr lang="en-US" sz="1000" dirty="0" err="1">
                          <a:latin typeface="T2 Rooftop" pitchFamily="2" charset="0"/>
                        </a:rPr>
                        <a:t>ico</a:t>
                      </a:r>
                      <a:r>
                        <a:rPr lang="ru-RU" sz="1000" dirty="0">
                          <a:latin typeface="T2 Rooftop" pitchFamily="2" charset="0"/>
                        </a:rPr>
                        <a:t> - в работе, прорабатываем отчет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800" dirty="0">
                        <a:solidFill>
                          <a:schemeClr val="tx1"/>
                        </a:solidFill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090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T2 Rooftop" pitchFamily="2" charset="0"/>
                        </a:rPr>
                        <a:t>15.06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2 Rooftop" pitchFamily="2" charset="0"/>
                          <a:ea typeface="+mn-ea"/>
                          <a:cs typeface="+mn-cs"/>
                        </a:rPr>
                        <a:t>❗️</a:t>
                      </a:r>
                      <a:r>
                        <a:rPr lang="ru-RU" sz="1000" dirty="0">
                          <a:latin typeface="T2 Rooftop" pitchFamily="2" charset="0"/>
                        </a:rPr>
                        <a:t>Контроль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latin typeface="T2 Rooftop" pitchFamily="2" charset="0"/>
                        </a:rPr>
                        <a:t>Необходимо получить ответственного со стороны Продаж за интернет-магазин и заявки из него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800" dirty="0">
                        <a:solidFill>
                          <a:schemeClr val="tx1"/>
                        </a:solidFill>
                        <a:latin typeface="T2 Rooftop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370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4083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3801</TotalTime>
  <Words>6768</Words>
  <Application>Microsoft Macintosh PowerPoint</Application>
  <PresentationFormat>Широкоэкранный</PresentationFormat>
  <Paragraphs>643</Paragraphs>
  <Slides>20</Slides>
  <Notes>19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T2 Halvar Breit ExtraBold</vt:lpstr>
      <vt:lpstr>T2 Rooftop</vt:lpstr>
      <vt:lpstr>Тема Office</vt:lpstr>
      <vt:lpstr>Слайд think-cell</vt:lpstr>
      <vt:lpstr>Новости рынка</vt:lpstr>
      <vt:lpstr>Продуктовый офис: SMS</vt:lpstr>
      <vt:lpstr>Продуктовый офис: SMS</vt:lpstr>
      <vt:lpstr>Продуктовый офис: SMS</vt:lpstr>
      <vt:lpstr>Продуктовый офис: VOICE</vt:lpstr>
      <vt:lpstr>Продуктовый офис: VOICE</vt:lpstr>
      <vt:lpstr>Продуктовый офис: VOICE</vt:lpstr>
      <vt:lpstr>Продуктовый офис: M2M / IoT</vt:lpstr>
      <vt:lpstr>Продуктовый офис: M2M / IoT</vt:lpstr>
      <vt:lpstr>Продуктовый офис: Перспективные продукты</vt:lpstr>
      <vt:lpstr>Продуктовый офис: Перспективные продукты</vt:lpstr>
      <vt:lpstr>Продуктовый офис: Перспективные продукты</vt:lpstr>
      <vt:lpstr>Продуктовый офис: Перспективные продукты</vt:lpstr>
      <vt:lpstr>Продуктовый офис: Перспективные продукты</vt:lpstr>
      <vt:lpstr>Продуктовый офис: CORE</vt:lpstr>
      <vt:lpstr>Продуктовый офис: CORE</vt:lpstr>
      <vt:lpstr>Продуктовый офис: CORE</vt:lpstr>
      <vt:lpstr>Продуктовый офис: CORE</vt:lpstr>
      <vt:lpstr>Продуктовый офис: Продуктовый маркетинг</vt:lpstr>
      <vt:lpstr>Продуктовый офис: Продуктовый маркетинг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Sklyarov</dc:creator>
  <cp:lastModifiedBy>Ivan Sklyarov</cp:lastModifiedBy>
  <cp:revision>76</cp:revision>
  <dcterms:created xsi:type="dcterms:W3CDTF">2026-05-04T12:57:35Z</dcterms:created>
  <dcterms:modified xsi:type="dcterms:W3CDTF">2026-06-08T12:59:18Z</dcterms:modified>
</cp:coreProperties>
</file>